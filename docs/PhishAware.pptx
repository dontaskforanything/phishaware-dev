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72" r:id="rId12"/>
    <p:sldId id="273" r:id="rId13"/>
    <p:sldId id="274" r:id="rId14"/>
    <p:sldId id="275" r:id="rId15"/>
    <p:sldId id="268" r:id="rId16"/>
    <p:sldId id="270" r:id="rId17"/>
    <p:sldId id="276" r:id="rId18"/>
    <p:sldId id="269" r:id="rId19"/>
  </p:sldIdLst>
  <p:sldSz cx="12192000" cy="6858000"/>
  <p:notesSz cx="6858000" cy="9144000"/>
  <p:embeddedFontLst>
    <p:embeddedFont>
      <p:font typeface="Red Hat Display" panose="02010303040201060303" pitchFamily="2" charset="0"/>
      <p:regular r:id="rId21"/>
      <p:bold r:id="rId22"/>
      <p:italic r:id="rId23"/>
      <p:boldItalic r:id="rId24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EE9"/>
    <a:srgbClr val="378075"/>
    <a:srgbClr val="F6B137"/>
    <a:srgbClr val="EC6A84"/>
    <a:srgbClr val="1560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0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82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ADEA3B-3065-43EF-AA55-3E26DA58F3FA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0DB598-70ED-4F7F-99D1-5A81AC9D7A5A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651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pl-PL" b="1" dirty="0" err="1"/>
              <a:t>Smishing</a:t>
            </a:r>
            <a:r>
              <a:rPr lang="pl-PL" dirty="0"/>
              <a:t> – oszustwa przez SMS (to, co już wymieniłeś), często podszywające się pod bank, kuriera, policję.</a:t>
            </a:r>
          </a:p>
          <a:p>
            <a:pPr>
              <a:buNone/>
            </a:pPr>
            <a:r>
              <a:rPr lang="pl-PL" b="1" dirty="0" err="1"/>
              <a:t>Pharming</a:t>
            </a:r>
            <a:r>
              <a:rPr lang="pl-PL" dirty="0"/>
              <a:t> – przekierowanie użytkownika na fałszywą stronę internetową mimo wpisania poprawnego adresu (np. przez zainfekowany router lub DNS).</a:t>
            </a:r>
          </a:p>
          <a:p>
            <a:pPr>
              <a:buNone/>
            </a:pPr>
            <a:r>
              <a:rPr lang="pl-PL" b="1" dirty="0" err="1"/>
              <a:t>Spoofing</a:t>
            </a:r>
            <a:r>
              <a:rPr lang="pl-PL" dirty="0"/>
              <a:t> – podszywanie się pod kogoś innego: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/>
              <a:t>Email </a:t>
            </a:r>
            <a:r>
              <a:rPr lang="pl-PL" b="1" dirty="0" err="1"/>
              <a:t>spoofing</a:t>
            </a:r>
            <a:r>
              <a:rPr lang="pl-PL" dirty="0"/>
              <a:t> – fałszywy nadawca e-maila.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l-PL" b="1" dirty="0" err="1"/>
              <a:t>Caller</a:t>
            </a:r>
            <a:r>
              <a:rPr lang="pl-PL" b="1" dirty="0"/>
              <a:t> ID </a:t>
            </a:r>
            <a:r>
              <a:rPr lang="pl-PL" b="1" dirty="0" err="1"/>
              <a:t>spoofing</a:t>
            </a:r>
            <a:r>
              <a:rPr lang="pl-PL" dirty="0"/>
              <a:t> – numer telefonu wyświetla się jako np. policja, bank.</a:t>
            </a:r>
          </a:p>
          <a:p>
            <a:pPr>
              <a:buNone/>
            </a:pPr>
            <a:r>
              <a:rPr lang="pl-PL" b="1" dirty="0" err="1"/>
              <a:t>Scareware</a:t>
            </a:r>
            <a:r>
              <a:rPr lang="pl-PL" dirty="0"/>
              <a:t> – straszenie użytkownika np. fałszywym komunikatem o wirusie, by skłonić go do zakupu niepotrzebnego oprogramowania.</a:t>
            </a:r>
          </a:p>
          <a:p>
            <a:pPr>
              <a:buNone/>
            </a:pPr>
            <a:r>
              <a:rPr lang="pl-PL" b="1" dirty="0" err="1"/>
              <a:t>Pretexting</a:t>
            </a:r>
            <a:r>
              <a:rPr lang="pl-PL" dirty="0"/>
              <a:t> – oszust tworzy przekonującą historię (pretekst), by wyłudzić informacje (np. „jestem z działu IT, potrzebuję twojego hasła do audytu”).</a:t>
            </a:r>
          </a:p>
          <a:p>
            <a:pPr>
              <a:buNone/>
            </a:pPr>
            <a:r>
              <a:rPr lang="pl-PL" b="1" dirty="0" err="1"/>
              <a:t>Shoulder</a:t>
            </a:r>
            <a:r>
              <a:rPr lang="pl-PL" b="1" dirty="0"/>
              <a:t> surfing</a:t>
            </a:r>
            <a:r>
              <a:rPr lang="pl-PL" dirty="0"/>
              <a:t> – podglądanie czyjegoś ekranu lub klawiatury np. w miejscu publicznym.</a:t>
            </a:r>
          </a:p>
          <a:p>
            <a:r>
              <a:rPr lang="pl-PL" b="1" dirty="0" err="1"/>
              <a:t>Baiting</a:t>
            </a:r>
            <a:r>
              <a:rPr lang="pl-PL" dirty="0"/>
              <a:t> – przynęta w formie fizycznej (np. pendrive z wirusem porzucony w biurze) lub cyfrowej (np. darmowy plik do pobrania z zainfekowanej strony).</a:t>
            </a:r>
          </a:p>
          <a:p>
            <a:endParaRPr lang="pl-PL" dirty="0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50DB598-70ED-4F7F-99D1-5A81AC9D7A5A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25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5E2F743-B693-201D-E66A-640AFB6BA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C66DA2B-9AA7-37AE-145C-4B54EE0067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D1E8A15E-5034-E66F-CAA4-D7E686498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BA86A147-71A3-FAAC-6B82-81B525175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9E8AE43-F380-AFA6-95EB-AAFE275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1735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F88E2D6-259C-A166-4B4A-00AFA0BEE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002A75B-0896-5502-DFF1-68E7ACA9AC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3B46F5A-7E8C-2243-BC2F-1E46F82C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330D1E5-C99C-169E-4309-2D962F60F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B247987A-4A6A-B01D-B810-499051D74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65579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54F348F-7B7E-E2C1-C673-D2FBD43FF1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EA8413B-2C90-E251-6BA1-5A7F225FC8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A1BD0896-CE54-0E92-C3B4-83278115E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40FB0BF-4E7A-0B5D-798A-3A6E8B3F7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3DF492B-70A3-ADEA-6052-AAF35368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24620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E90C9F9-9B00-1346-1FB6-B6FC42630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869EE2-6361-691E-7E4F-8B95CD979E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7C1AB114-BF50-F9FE-A9DD-8B321DE94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BF06A5F-3B12-9C12-351B-F24EBF950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D06BE80-9459-2073-C6CD-4A440B68C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17CFB592-DDF3-ECCF-B8FD-C2A7FD96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223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4CD8D9-97D3-554C-5945-1FF45630B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141EC82-18D8-DDB9-1D48-A0FBB2CC0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5A1360B-D9F0-EBCC-2E20-3662C1F354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E084AC7-8C2E-1C26-6207-112FF73EC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6190BF2-F262-F213-6176-7906C123EB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D41417F4-BB28-5176-A26A-44177A48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69E98D09-F748-2823-772D-9247B4A52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8F3C71F4-AFDD-89D0-F563-78ECC8D3E9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30313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25D478E-693B-27E7-7104-A17958748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86B6229E-2250-C8A1-C88B-F38635D8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09A5324D-DD92-6B41-76A0-EC145117D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998F5A45-13F7-3EFE-91CA-25311F00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9394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25B2E6B2-B217-DB4B-C558-32C7B1503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4B0B87A3-9655-713B-FBED-93ECF3C36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D59FA84-1FB5-0595-DDB2-866851A56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35009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A29C0EB-FB44-33B5-7D96-812C1E3F1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86E9F26-E44C-B1DD-46DB-D4AB7889C4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922DAE40-FC33-2C44-80F9-E7DF010F72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5CEB62A-2964-0551-3753-740AFAD31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4CB84B85-C22C-2E47-B4F9-3A86E17B3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5CC3DF-2E25-5764-EACA-AA84E2E15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9984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82CBBE0-5502-F0DA-3CBC-5C81C8C5BD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9262697C-ED72-5942-3156-08F59ED196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63BF6D29-4688-FAE7-7222-65DD307B2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BA34B7C-012D-D332-71A9-7EABF24BF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135C1586-FE0A-F879-5F01-981FC5F7F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E7518046-380A-0ED9-44BC-09D9CD94D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86918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679409-2192-4A34-2689-ED52D1D66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91372E3C-2336-7FE4-A286-81A2CA933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ECCF591E-179D-F1BE-F70A-0E024ABD9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00987F8-FCBE-E0B6-3D06-2546B51AF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1BBFB5EF-1FEB-3EC1-9175-30A7D951D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0527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CB92F855-1101-D056-FEC9-A62B89DBD2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FDFB17A8-0BAE-7E33-3C92-757F22170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5F7D8E8-6E66-4A17-16FD-4933C58F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30AB5FBF-70B2-7D15-314E-FCD9CD8BF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FB2683-084C-9BFC-1B1E-CD7FE6515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90486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69F49D51-59FF-D36D-A9D3-8E0E7A55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68D6A25-E306-DFDC-7394-0FDFF85422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DE04232-68C6-567A-061E-E6518E7BE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0C3D0-5B72-4813-9427-E59E217E82A7}" type="datetimeFigureOut">
              <a:rPr lang="pl-PL" smtClean="0"/>
              <a:t>16.05.2025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048A745-F1E1-8944-6C9C-0C1A1DB82E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356D575-C38F-859E-F5E4-80CB3DB31F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3FA263-2EF3-44E8-BA96-33E32B25D08B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262424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5.png"/><Relationship Id="rId12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2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7.png"/><Relationship Id="rId3" Type="http://schemas.openxmlformats.org/officeDocument/2006/relationships/image" Target="../media/image10.png"/><Relationship Id="rId7" Type="http://schemas.openxmlformats.org/officeDocument/2006/relationships/image" Target="../media/image6.png"/><Relationship Id="rId12" Type="http://schemas.openxmlformats.org/officeDocument/2006/relationships/image" Target="../media/image16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5.png"/><Relationship Id="rId5" Type="http://schemas.openxmlformats.org/officeDocument/2006/relationships/image" Target="../media/image13.png"/><Relationship Id="rId10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pple-fruit-red-crayons-drawing-1485458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apple-fruit-red-crayons-drawing-1485458/" TargetMode="Externa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93ABCCA-6679-FC1B-528B-972602C7B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F95AEB0F-423E-7140-E45F-CA565C15A1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515" y="3365217"/>
            <a:ext cx="6477000" cy="473642"/>
          </a:xfrm>
        </p:spPr>
        <p:txBody>
          <a:bodyPr>
            <a:noAutofit/>
          </a:bodyPr>
          <a:lstStyle/>
          <a:p>
            <a:pPr algn="l"/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“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Duolingo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cyberbezpieczeństwa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”</a:t>
            </a:r>
            <a:endParaRPr lang="pl-PL" sz="29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51048B7E-2198-7A98-B8DA-35C4A5E39AE6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9C6F50D7-B7E3-B864-A0BB-028D3AA4396A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7" name="Grupa 16">
            <a:extLst>
              <a:ext uri="{FF2B5EF4-FFF2-40B4-BE49-F238E27FC236}">
                <a16:creationId xmlns:a16="http://schemas.microsoft.com/office/drawing/2014/main" id="{978332CB-2640-5200-4411-EC1FB5439835}"/>
              </a:ext>
            </a:extLst>
          </p:cNvPr>
          <p:cNvGrpSpPr/>
          <p:nvPr/>
        </p:nvGrpSpPr>
        <p:grpSpPr>
          <a:xfrm>
            <a:off x="7937500" y="-3193328"/>
            <a:ext cx="3022600" cy="12599266"/>
            <a:chOff x="8509000" y="-3174278"/>
            <a:chExt cx="3022600" cy="12599266"/>
          </a:xfrm>
        </p:grpSpPr>
        <p:sp>
          <p:nvSpPr>
            <p:cNvPr id="6" name="Prostokąt: zaokrąglone rogi 5">
              <a:extLst>
                <a:ext uri="{FF2B5EF4-FFF2-40B4-BE49-F238E27FC236}">
                  <a16:creationId xmlns:a16="http://schemas.microsoft.com/office/drawing/2014/main" id="{84C7075E-9FA4-8A27-F713-125AADE90F75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351FC616-769B-AA47-9569-B20E16512B58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pic>
        <p:nvPicPr>
          <p:cNvPr id="14" name="Grafika 13">
            <a:extLst>
              <a:ext uri="{FF2B5EF4-FFF2-40B4-BE49-F238E27FC236}">
                <a16:creationId xmlns:a16="http://schemas.microsoft.com/office/drawing/2014/main" id="{18454A0D-0DCB-AD2F-62E4-9F3F2A2BB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87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D5BAB4-BC92-49C9-B269-4907D9260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C0DD86D-47C5-CA89-A6A4-7EF863D4824E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B466870-CC19-169A-C340-DCF74E40A496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22BAB441-D556-F101-C8B3-A6635F24A1EA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8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12  500 000 000$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50CE875F-D464-6FF2-412E-F078E796BE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straconych z powodu </a:t>
            </a:r>
          </a:p>
          <a:p>
            <a:r>
              <a:rPr lang="pl-PL" sz="4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cyberoszustów</a:t>
            </a:r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tylko w 2024</a:t>
            </a: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44211DF8-81C3-4DA9-B202-FDCF718DF4DC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6E467DA4-2FD7-73D1-27D7-4C43F099A802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1" name="Prostokąt: zaokrąglone rogi 20">
              <a:extLst>
                <a:ext uri="{FF2B5EF4-FFF2-40B4-BE49-F238E27FC236}">
                  <a16:creationId xmlns:a16="http://schemas.microsoft.com/office/drawing/2014/main" id="{391E1B16-F671-5A0A-C9AC-1F31B9028097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32" name="pole tekstowe 31">
            <a:extLst>
              <a:ext uri="{FF2B5EF4-FFF2-40B4-BE49-F238E27FC236}">
                <a16:creationId xmlns:a16="http://schemas.microsoft.com/office/drawing/2014/main" id="{A422BD2C-5AD8-B652-7BF8-C288025F1CEB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Zaid, T., &amp; Garai, S. (2024). Emerging Trends in Cybersecurity: A Holistic View on Current Threats, Assessing Solutions, and Pioneering New Frontiers. Blockchain in Healthcare Today, 7.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628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08BF-5FB0-D1B0-64D9-7843583B3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F8E014D0-91D3-7CB8-059B-165E99B37221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83%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73E809D9-8B09-1368-7D25-C5FEC6613D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firm padło ofiarą</a:t>
            </a:r>
          </a:p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cyberprzestępstw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355FB49-66DC-0030-9D45-8240DF64DD1F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43FC86CD-65B2-F23B-7FCF-E15BFA8CC3D7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ED91152D-7E51-6386-4C49-B528BE15FD44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7B64FCCB-A9E1-B861-C639-EE0207F24F9D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4A2C320F-2B10-E622-B246-58BC798185FE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8CD60186-F53C-1179-D9A8-92A94B46B921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Khan, S., Kabanov, I., Hua, Y., &amp; Madnick, S.E. (2022). A Systematic Analysis of the Capital One Data Breach: Critical Lessons Learned. </a:t>
            </a:r>
            <a:r>
              <a:rPr lang="en-US" sz="400" b="0" i="1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ACM Transactions on Privacy and Security, 26</a:t>
            </a:r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1 - 29.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76523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9B67-40FC-09A6-87E5-DB4A460F4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7B6EBEB9-5426-B1F0-8A30-2C6072B79704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95%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A5D31686-38F6-3AFF-71E6-88ACB8579E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naruszeń jest spowodowanych</a:t>
            </a:r>
          </a:p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przede wszystkim błędem ludzkim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A2D527A6-C4C6-85CE-6C3F-846831553FA9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29A59025-F92E-F286-FBF6-92C9C38436FC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B5020330-EE2E-9A83-1089-AF12C209327F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B14FECC2-0F28-0E75-A737-1D1B2D7B72AD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38885AE0-A46F-4C0E-E05F-939FEF274560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" name="pole tekstowe 8">
            <a:extLst>
              <a:ext uri="{FF2B5EF4-FFF2-40B4-BE49-F238E27FC236}">
                <a16:creationId xmlns:a16="http://schemas.microsoft.com/office/drawing/2014/main" id="{69F313F8-5CFF-5134-C598-FB56DAF69F95}"/>
              </a:ext>
            </a:extLst>
          </p:cNvPr>
          <p:cNvSpPr txBox="1"/>
          <p:nvPr/>
        </p:nvSpPr>
        <p:spPr>
          <a:xfrm>
            <a:off x="0" y="6704112"/>
            <a:ext cx="5013960" cy="153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Alsharif, M., Mishra, S., &amp; Alshehri, M. (2022). Impact of Human Vulnerabilities on Cybersecurity. </a:t>
            </a:r>
            <a:r>
              <a:rPr lang="en-US" sz="400" b="0" i="0" dirty="0" err="1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Comput</a:t>
            </a:r>
            <a:r>
              <a:rPr lang="en-US" sz="400" b="0" i="0" dirty="0">
                <a:solidFill>
                  <a:srgbClr val="2E414F"/>
                </a:solidFill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. Syst. Sci. Eng., 40, 1153-1166.</a:t>
            </a:r>
            <a:endParaRPr lang="pl-PL" sz="4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013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63AC3-0C42-8755-3A5C-6E09E6B79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ytuł 1">
            <a:extLst>
              <a:ext uri="{FF2B5EF4-FFF2-40B4-BE49-F238E27FC236}">
                <a16:creationId xmlns:a16="http://schemas.microsoft.com/office/drawing/2014/main" id="{962B54C5-1310-1E8E-0245-CE6F49DCC0B3}"/>
              </a:ext>
            </a:extLst>
          </p:cNvPr>
          <p:cNvSpPr txBox="1">
            <a:spLocks/>
          </p:cNvSpPr>
          <p:nvPr/>
        </p:nvSpPr>
        <p:spPr>
          <a:xfrm>
            <a:off x="0" y="1992673"/>
            <a:ext cx="12192000" cy="16557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9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Ale dlaczego?</a:t>
            </a:r>
          </a:p>
        </p:txBody>
      </p:sp>
      <p:sp>
        <p:nvSpPr>
          <p:cNvPr id="16" name="Tytuł 1">
            <a:extLst>
              <a:ext uri="{FF2B5EF4-FFF2-40B4-BE49-F238E27FC236}">
                <a16:creationId xmlns:a16="http://schemas.microsoft.com/office/drawing/2014/main" id="{33F4CA6E-2FB6-5EC1-B858-8592F21C4E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12192000" cy="1655763"/>
          </a:xfrm>
        </p:spPr>
        <p:txBody>
          <a:bodyPr>
            <a:noAutofit/>
          </a:bodyPr>
          <a:lstStyle/>
          <a:p>
            <a:r>
              <a:rPr lang="pl-PL" sz="4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Przecież szkolimy…</a:t>
            </a:r>
          </a:p>
        </p:txBody>
      </p:sp>
      <p:sp>
        <p:nvSpPr>
          <p:cNvPr id="2" name="Prostokąt: zaokrąglone rogi 1">
            <a:extLst>
              <a:ext uri="{FF2B5EF4-FFF2-40B4-BE49-F238E27FC236}">
                <a16:creationId xmlns:a16="http://schemas.microsoft.com/office/drawing/2014/main" id="{34D5B9FC-BF0E-F546-6D1E-0FBF89B6156F}"/>
              </a:ext>
            </a:extLst>
          </p:cNvPr>
          <p:cNvSpPr/>
          <p:nvPr/>
        </p:nvSpPr>
        <p:spPr>
          <a:xfrm>
            <a:off x="1282700" y="-4957212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3" name="Prostokąt: zaokrąglone rogi 2">
            <a:extLst>
              <a:ext uri="{FF2B5EF4-FFF2-40B4-BE49-F238E27FC236}">
                <a16:creationId xmlns:a16="http://schemas.microsoft.com/office/drawing/2014/main" id="{A9B286B0-862D-77A1-FB4F-3F4112A731D7}"/>
              </a:ext>
            </a:extLst>
          </p:cNvPr>
          <p:cNvSpPr/>
          <p:nvPr/>
        </p:nvSpPr>
        <p:spPr>
          <a:xfrm>
            <a:off x="4584700" y="-4178490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6" name="Grupa 5">
            <a:extLst>
              <a:ext uri="{FF2B5EF4-FFF2-40B4-BE49-F238E27FC236}">
                <a16:creationId xmlns:a16="http://schemas.microsoft.com/office/drawing/2014/main" id="{6CAD114A-3E6C-6345-D4BB-2D6DAE901CB8}"/>
              </a:ext>
            </a:extLst>
          </p:cNvPr>
          <p:cNvGrpSpPr/>
          <p:nvPr/>
        </p:nvGrpSpPr>
        <p:grpSpPr>
          <a:xfrm>
            <a:off x="7937500" y="5215731"/>
            <a:ext cx="3022600" cy="12599266"/>
            <a:chOff x="8509000" y="-3174278"/>
            <a:chExt cx="3022600" cy="12599266"/>
          </a:xfrm>
        </p:grpSpPr>
        <p:sp>
          <p:nvSpPr>
            <p:cNvPr id="7" name="Prostokąt: zaokrąglone rogi 6">
              <a:extLst>
                <a:ext uri="{FF2B5EF4-FFF2-40B4-BE49-F238E27FC236}">
                  <a16:creationId xmlns:a16="http://schemas.microsoft.com/office/drawing/2014/main" id="{15B69C38-C742-84BA-BD96-2D4F6311272B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Prostokąt: zaokrąglone rogi 7">
              <a:extLst>
                <a:ext uri="{FF2B5EF4-FFF2-40B4-BE49-F238E27FC236}">
                  <a16:creationId xmlns:a16="http://schemas.microsoft.com/office/drawing/2014/main" id="{75505D09-8BB1-0B90-4F71-5B3C2BB6F94A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63623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68B76-4C81-DB00-8878-DD816F799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ytuł 1">
            <a:extLst>
              <a:ext uri="{FF2B5EF4-FFF2-40B4-BE49-F238E27FC236}">
                <a16:creationId xmlns:a16="http://schemas.microsoft.com/office/drawing/2014/main" id="{E2AA87FA-DD89-7087-3252-DFEFFDB286E3}"/>
              </a:ext>
            </a:extLst>
          </p:cNvPr>
          <p:cNvSpPr txBox="1">
            <a:spLocks/>
          </p:cNvSpPr>
          <p:nvPr/>
        </p:nvSpPr>
        <p:spPr>
          <a:xfrm>
            <a:off x="11290300" y="475766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personalizacji </a:t>
            </a: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3BDB940F-1A37-772C-63C5-BF3BFCF8062C}"/>
              </a:ext>
            </a:extLst>
          </p:cNvPr>
          <p:cNvSpPr txBox="1">
            <a:spLocks/>
          </p:cNvSpPr>
          <p:nvPr/>
        </p:nvSpPr>
        <p:spPr>
          <a:xfrm>
            <a:off x="1520825" y="-114184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nudne kursy bez efektów</a:t>
            </a:r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41CFA4E0-FA96-3CC1-9474-C317F16666AB}"/>
              </a:ext>
            </a:extLst>
          </p:cNvPr>
          <p:cNvSpPr txBox="1">
            <a:spLocks/>
          </p:cNvSpPr>
          <p:nvPr/>
        </p:nvSpPr>
        <p:spPr>
          <a:xfrm>
            <a:off x="9763125" y="-903541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 dużo teorii, za mało praktyki</a:t>
            </a:r>
          </a:p>
        </p:txBody>
      </p:sp>
      <p:sp>
        <p:nvSpPr>
          <p:cNvPr id="23" name="Tytuł 1">
            <a:extLst>
              <a:ext uri="{FF2B5EF4-FFF2-40B4-BE49-F238E27FC236}">
                <a16:creationId xmlns:a16="http://schemas.microsoft.com/office/drawing/2014/main" id="{46C29D1B-A3A4-70C7-66AB-04C70BE01724}"/>
              </a:ext>
            </a:extLst>
          </p:cNvPr>
          <p:cNvSpPr txBox="1">
            <a:spLocks/>
          </p:cNvSpPr>
          <p:nvPr/>
        </p:nvSpPr>
        <p:spPr>
          <a:xfrm>
            <a:off x="-6962775" y="24111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niewystarczające testowanie wiedzy</a:t>
            </a:r>
          </a:p>
        </p:txBody>
      </p:sp>
      <p:sp>
        <p:nvSpPr>
          <p:cNvPr id="24" name="Tytuł 1">
            <a:extLst>
              <a:ext uri="{FF2B5EF4-FFF2-40B4-BE49-F238E27FC236}">
                <a16:creationId xmlns:a16="http://schemas.microsoft.com/office/drawing/2014/main" id="{AEF796AB-2B7E-D274-A035-48778734038C}"/>
              </a:ext>
            </a:extLst>
          </p:cNvPr>
          <p:cNvSpPr txBox="1">
            <a:spLocks/>
          </p:cNvSpPr>
          <p:nvPr/>
        </p:nvSpPr>
        <p:spPr>
          <a:xfrm>
            <a:off x="11901487" y="2222855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zaangażowania pracowników</a:t>
            </a:r>
          </a:p>
        </p:txBody>
      </p:sp>
      <p:sp>
        <p:nvSpPr>
          <p:cNvPr id="25" name="Tytuł 1">
            <a:extLst>
              <a:ext uri="{FF2B5EF4-FFF2-40B4-BE49-F238E27FC236}">
                <a16:creationId xmlns:a16="http://schemas.microsoft.com/office/drawing/2014/main" id="{D6F553EE-B5E9-36EC-8627-06FB425A627E}"/>
              </a:ext>
            </a:extLst>
          </p:cNvPr>
          <p:cNvSpPr txBox="1">
            <a:spLocks/>
          </p:cNvSpPr>
          <p:nvPr/>
        </p:nvSpPr>
        <p:spPr>
          <a:xfrm>
            <a:off x="-6048375" y="4405132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 wiesz, kto się uczy, a kto nie</a:t>
            </a:r>
          </a:p>
        </p:txBody>
      </p:sp>
      <p:sp>
        <p:nvSpPr>
          <p:cNvPr id="26" name="Tytuł 1">
            <a:extLst>
              <a:ext uri="{FF2B5EF4-FFF2-40B4-BE49-F238E27FC236}">
                <a16:creationId xmlns:a16="http://schemas.microsoft.com/office/drawing/2014/main" id="{20F6F7EA-CCBF-29C4-357E-271D9C57CAEF}"/>
              </a:ext>
            </a:extLst>
          </p:cNvPr>
          <p:cNvSpPr txBox="1">
            <a:spLocks/>
          </p:cNvSpPr>
          <p:nvPr/>
        </p:nvSpPr>
        <p:spPr>
          <a:xfrm>
            <a:off x="8412956" y="7231791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mierzenia skuteczności szkolenia</a:t>
            </a:r>
          </a:p>
        </p:txBody>
      </p:sp>
      <p:sp>
        <p:nvSpPr>
          <p:cNvPr id="27" name="Tytuł 1">
            <a:extLst>
              <a:ext uri="{FF2B5EF4-FFF2-40B4-BE49-F238E27FC236}">
                <a16:creationId xmlns:a16="http://schemas.microsoft.com/office/drawing/2014/main" id="{BD00E014-D84A-90F2-C856-4BC84DF8CB25}"/>
              </a:ext>
            </a:extLst>
          </p:cNvPr>
          <p:cNvSpPr txBox="1">
            <a:spLocks/>
          </p:cNvSpPr>
          <p:nvPr/>
        </p:nvSpPr>
        <p:spPr>
          <a:xfrm>
            <a:off x="927100" y="725431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solidFill>
                  <a:srgbClr val="FDFEE9"/>
                </a:solidFill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wsparcia po szkoleniu</a:t>
            </a:r>
          </a:p>
        </p:txBody>
      </p: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08AF5EE-0845-116A-3907-63722E4EEF7C}"/>
              </a:ext>
            </a:extLst>
          </p:cNvPr>
          <p:cNvSpPr/>
          <p:nvPr/>
        </p:nvSpPr>
        <p:spPr>
          <a:xfrm>
            <a:off x="7937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616BCA2D-6406-1053-00AF-26A718F448DD}"/>
              </a:ext>
            </a:extLst>
          </p:cNvPr>
          <p:cNvSpPr/>
          <p:nvPr/>
        </p:nvSpPr>
        <p:spPr>
          <a:xfrm>
            <a:off x="12827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011E434D-F761-FE25-0135-02DB7D76D720}"/>
              </a:ext>
            </a:extLst>
          </p:cNvPr>
          <p:cNvSpPr/>
          <p:nvPr/>
        </p:nvSpPr>
        <p:spPr>
          <a:xfrm>
            <a:off x="4584700" y="51752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grpSp>
        <p:nvGrpSpPr>
          <p:cNvPr id="19" name="Grupa 18">
            <a:extLst>
              <a:ext uri="{FF2B5EF4-FFF2-40B4-BE49-F238E27FC236}">
                <a16:creationId xmlns:a16="http://schemas.microsoft.com/office/drawing/2014/main" id="{11D8C325-05A1-3204-34A9-8E8FB7AFC838}"/>
              </a:ext>
            </a:extLst>
          </p:cNvPr>
          <p:cNvGrpSpPr/>
          <p:nvPr/>
        </p:nvGrpSpPr>
        <p:grpSpPr>
          <a:xfrm>
            <a:off x="7937500" y="-6258791"/>
            <a:ext cx="3022600" cy="12599266"/>
            <a:chOff x="8509000" y="-3174278"/>
            <a:chExt cx="3022600" cy="12599266"/>
          </a:xfrm>
        </p:grpSpPr>
        <p:sp>
          <p:nvSpPr>
            <p:cNvPr id="21" name="Prostokąt: zaokrąglone rogi 20">
              <a:extLst>
                <a:ext uri="{FF2B5EF4-FFF2-40B4-BE49-F238E27FC236}">
                  <a16:creationId xmlns:a16="http://schemas.microsoft.com/office/drawing/2014/main" id="{39D10991-2D23-0F22-640A-C070BE20FB3A}"/>
                </a:ext>
              </a:extLst>
            </p:cNvPr>
            <p:cNvSpPr/>
            <p:nvPr/>
          </p:nvSpPr>
          <p:spPr>
            <a:xfrm>
              <a:off x="8509000" y="-3174278"/>
              <a:ext cx="3022600" cy="5822950"/>
            </a:xfrm>
            <a:prstGeom prst="roundRect">
              <a:avLst/>
            </a:prstGeom>
            <a:solidFill>
              <a:srgbClr val="EC6A8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  <p:sp>
          <p:nvSpPr>
            <p:cNvPr id="20" name="Prostokąt: zaokrąglone rogi 19">
              <a:extLst>
                <a:ext uri="{FF2B5EF4-FFF2-40B4-BE49-F238E27FC236}">
                  <a16:creationId xmlns:a16="http://schemas.microsoft.com/office/drawing/2014/main" id="{2091EF3D-5744-3D2D-DC97-2279215FF279}"/>
                </a:ext>
              </a:extLst>
            </p:cNvPr>
            <p:cNvSpPr/>
            <p:nvPr/>
          </p:nvSpPr>
          <p:spPr>
            <a:xfrm>
              <a:off x="8509000" y="3602038"/>
              <a:ext cx="3022600" cy="5822950"/>
            </a:xfrm>
            <a:prstGeom prst="roundRect">
              <a:avLst/>
            </a:prstGeom>
            <a:solidFill>
              <a:srgbClr val="37807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l-PL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08492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2470A-2555-265A-CC60-5258AF008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90AD727-6329-D886-9A35-96E69EF11DA6}"/>
              </a:ext>
            </a:extLst>
          </p:cNvPr>
          <p:cNvSpPr txBox="1">
            <a:spLocks/>
          </p:cNvSpPr>
          <p:nvPr/>
        </p:nvSpPr>
        <p:spPr>
          <a:xfrm>
            <a:off x="0" y="3009900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Tradycyjne rozwiązania zawodzą</a:t>
            </a:r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36CE3957-C49F-1072-3283-C82401FC6F2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1771649" y="43320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nudne kursy bez efektów</a:t>
            </a:r>
          </a:p>
        </p:txBody>
      </p:sp>
      <p:sp>
        <p:nvSpPr>
          <p:cNvPr id="10" name="Tytuł 1">
            <a:extLst>
              <a:ext uri="{FF2B5EF4-FFF2-40B4-BE49-F238E27FC236}">
                <a16:creationId xmlns:a16="http://schemas.microsoft.com/office/drawing/2014/main" id="{EE5DEF4E-77A2-326D-4038-3BB9C9BBB865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677025" y="1079058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za dużo teorii, za mało praktyki</a:t>
            </a:r>
          </a:p>
        </p:txBody>
      </p:sp>
      <p:sp>
        <p:nvSpPr>
          <p:cNvPr id="11" name="Tytuł 1">
            <a:extLst>
              <a:ext uri="{FF2B5EF4-FFF2-40B4-BE49-F238E27FC236}">
                <a16:creationId xmlns:a16="http://schemas.microsoft.com/office/drawing/2014/main" id="{04A97A95-3A55-DCB5-21B0-439B9252D41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-226219" y="1419404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niewystarczające testowanie wiedzy</a:t>
            </a: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3B202DBE-BE42-F37D-0E96-E54AAB34B1B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957887" y="2095499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zaangażowania pracowników</a:t>
            </a:r>
          </a:p>
        </p:txBody>
      </p:sp>
      <p:sp>
        <p:nvSpPr>
          <p:cNvPr id="14" name="Tytuł 1">
            <a:extLst>
              <a:ext uri="{FF2B5EF4-FFF2-40B4-BE49-F238E27FC236}">
                <a16:creationId xmlns:a16="http://schemas.microsoft.com/office/drawing/2014/main" id="{D9BD5B9C-EF90-D56C-65DA-D82ED4C052D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23850" y="4229243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nie wiesz, kto się uczy, a kto nie</a:t>
            </a:r>
          </a:p>
        </p:txBody>
      </p:sp>
      <p:sp>
        <p:nvSpPr>
          <p:cNvPr id="15" name="Tytuł 1">
            <a:extLst>
              <a:ext uri="{FF2B5EF4-FFF2-40B4-BE49-F238E27FC236}">
                <a16:creationId xmlns:a16="http://schemas.microsoft.com/office/drawing/2014/main" id="{27D496E1-2589-9013-405E-8A10E0C77A9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5860256" y="5783986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mierzenia skuteczności szkolenia</a:t>
            </a:r>
          </a:p>
        </p:txBody>
      </p:sp>
      <p:sp>
        <p:nvSpPr>
          <p:cNvPr id="17" name="Tytuł 1">
            <a:extLst>
              <a:ext uri="{FF2B5EF4-FFF2-40B4-BE49-F238E27FC236}">
                <a16:creationId xmlns:a16="http://schemas.microsoft.com/office/drawing/2014/main" id="{943ABA5B-DA01-699A-68CF-764C001B6B0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57200" y="5416912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wsparcia po szkoleniu</a:t>
            </a: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8D37BFEF-7F7B-9218-FB0F-38E6E4FE2CE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6410325" y="4412780"/>
            <a:ext cx="6086475" cy="47661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20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brak personalizacji </a:t>
            </a: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871CD828-316F-0EF6-5625-95A3A5C0BCD0}"/>
              </a:ext>
            </a:extLst>
          </p:cNvPr>
          <p:cNvSpPr/>
          <p:nvPr/>
        </p:nvSpPr>
        <p:spPr>
          <a:xfrm>
            <a:off x="-35941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73BFA6E2-48E9-F1FB-E454-CA0F2AC0F959}"/>
              </a:ext>
            </a:extLst>
          </p:cNvPr>
          <p:cNvSpPr/>
          <p:nvPr/>
        </p:nvSpPr>
        <p:spPr>
          <a:xfrm>
            <a:off x="4584700" y="735647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0359DA5F-89D3-950C-8C51-6E2A79347BAF}"/>
              </a:ext>
            </a:extLst>
          </p:cNvPr>
          <p:cNvSpPr/>
          <p:nvPr/>
        </p:nvSpPr>
        <p:spPr>
          <a:xfrm>
            <a:off x="12763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3908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077B1F-F689-D976-B610-65F7AD685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CD524141-B5B2-C69D-9D92-B4DB748007C1}"/>
              </a:ext>
            </a:extLst>
          </p:cNvPr>
          <p:cNvSpPr/>
          <p:nvPr/>
        </p:nvSpPr>
        <p:spPr>
          <a:xfrm>
            <a:off x="1282700" y="517525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986ECE7-2345-34DC-9DE2-E946D7B7D79E}"/>
              </a:ext>
            </a:extLst>
          </p:cNvPr>
          <p:cNvSpPr/>
          <p:nvPr/>
        </p:nvSpPr>
        <p:spPr>
          <a:xfrm>
            <a:off x="4584700" y="517525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3D01D0BB-B2D5-152E-1D86-A330C0EAAB7C}"/>
              </a:ext>
            </a:extLst>
          </p:cNvPr>
          <p:cNvSpPr/>
          <p:nvPr/>
        </p:nvSpPr>
        <p:spPr>
          <a:xfrm>
            <a:off x="7937500" y="517525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D1FF812A-DA4A-0773-3DF2-785159FEF818}"/>
              </a:ext>
            </a:extLst>
          </p:cNvPr>
          <p:cNvSpPr/>
          <p:nvPr/>
        </p:nvSpPr>
        <p:spPr>
          <a:xfrm>
            <a:off x="7937500" y="-625879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28043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7459B-77D8-17C9-B01E-F7128580F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C596CC-10A8-425E-FF96-B69F799E01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7F6866F-EBD9-EA01-78C7-1FAB865AC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1515" y="3365217"/>
            <a:ext cx="6477000" cy="473642"/>
          </a:xfrm>
        </p:spPr>
        <p:txBody>
          <a:bodyPr>
            <a:noAutofit/>
          </a:bodyPr>
          <a:lstStyle/>
          <a:p>
            <a:pPr algn="l"/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“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Duolingo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9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cyberbezpieczeństwa</a:t>
            </a:r>
            <a:r>
              <a:rPr lang="pl-PL" sz="29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”</a:t>
            </a:r>
            <a:endParaRPr lang="pl-PL" sz="29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404CAE24-89B2-EF71-3A3E-D777790588B4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ED490658-3BD9-66B8-7E23-D4FC7667DD58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0BB056C-E84C-0CD4-10E6-705310168FBB}"/>
              </a:ext>
            </a:extLst>
          </p:cNvPr>
          <p:cNvSpPr/>
          <p:nvPr/>
        </p:nvSpPr>
        <p:spPr>
          <a:xfrm>
            <a:off x="7937500" y="358298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7C88BE6-90A7-FCBA-9900-E403976AA0CF}"/>
              </a:ext>
            </a:extLst>
          </p:cNvPr>
          <p:cNvSpPr/>
          <p:nvPr/>
        </p:nvSpPr>
        <p:spPr>
          <a:xfrm>
            <a:off x="7937500" y="-319332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3E87FA5F-3DED-9AB6-287A-1962F3CAB1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273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EB26F9-98A2-A252-72FF-16C540963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tytuł 2">
            <a:extLst>
              <a:ext uri="{FF2B5EF4-FFF2-40B4-BE49-F238E27FC236}">
                <a16:creationId xmlns:a16="http://schemas.microsoft.com/office/drawing/2014/main" id="{B1BF196C-7225-B01F-47BA-B96111AF84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76474" y="2971025"/>
            <a:ext cx="8582026" cy="1340133"/>
          </a:xfrm>
        </p:spPr>
        <p:txBody>
          <a:bodyPr>
            <a:noAutofit/>
          </a:bodyPr>
          <a:lstStyle/>
          <a:p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Nowoczesny system szkoleniowy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który nie tylko uczy przez </a:t>
            </a:r>
            <a:r>
              <a:rPr lang="pl-PL" sz="2800" b="1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gamefikację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,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ale też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testuje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skuteczność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b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realnym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  <a:r>
              <a:rPr lang="pl-PL" sz="28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środowisku</a:t>
            </a:r>
            <a:endParaRPr lang="pl-PL" sz="28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EC073C8A-82A6-123E-F84C-5C35CA152387}"/>
              </a:ext>
            </a:extLst>
          </p:cNvPr>
          <p:cNvSpPr/>
          <p:nvPr/>
        </p:nvSpPr>
        <p:spPr>
          <a:xfrm>
            <a:off x="1282700" y="456103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219A6E3-36C1-62F8-8B14-13E6C7583ACF}"/>
              </a:ext>
            </a:extLst>
          </p:cNvPr>
          <p:cNvSpPr/>
          <p:nvPr/>
        </p:nvSpPr>
        <p:spPr>
          <a:xfrm>
            <a:off x="4584700" y="519841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491A5DF0-00A2-949E-EA7B-C67116CB8686}"/>
              </a:ext>
            </a:extLst>
          </p:cNvPr>
          <p:cNvSpPr/>
          <p:nvPr/>
        </p:nvSpPr>
        <p:spPr>
          <a:xfrm>
            <a:off x="7937500" y="6017569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252F1AA6-E4CD-7C3F-7F23-42A53AE00FC5}"/>
              </a:ext>
            </a:extLst>
          </p:cNvPr>
          <p:cNvSpPr/>
          <p:nvPr/>
        </p:nvSpPr>
        <p:spPr>
          <a:xfrm>
            <a:off x="7937500" y="-4837166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3" name="Tytuł 1">
            <a:extLst>
              <a:ext uri="{FF2B5EF4-FFF2-40B4-BE49-F238E27FC236}">
                <a16:creationId xmlns:a16="http://schemas.microsoft.com/office/drawing/2014/main" id="{5791DFDF-DB59-0242-88BD-922F5E3B8D32}"/>
              </a:ext>
            </a:extLst>
          </p:cNvPr>
          <p:cNvSpPr txBox="1">
            <a:spLocks/>
          </p:cNvSpPr>
          <p:nvPr/>
        </p:nvSpPr>
        <p:spPr>
          <a:xfrm>
            <a:off x="57150" y="2332489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Czym jest </a:t>
            </a:r>
            <a:r>
              <a:rPr lang="pl-PL" sz="5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?</a:t>
            </a:r>
          </a:p>
        </p:txBody>
      </p:sp>
      <p:sp>
        <p:nvSpPr>
          <p:cNvPr id="20" name="Podtytuł 2">
            <a:extLst>
              <a:ext uri="{FF2B5EF4-FFF2-40B4-BE49-F238E27FC236}">
                <a16:creationId xmlns:a16="http://schemas.microsoft.com/office/drawing/2014/main" id="{08FD0B4E-1240-CEB7-1A35-366307B5A4F1}"/>
              </a:ext>
            </a:extLst>
          </p:cNvPr>
          <p:cNvSpPr txBox="1">
            <a:spLocks/>
          </p:cNvSpPr>
          <p:nvPr/>
        </p:nvSpPr>
        <p:spPr>
          <a:xfrm>
            <a:off x="5157787" y="4677436"/>
            <a:ext cx="8582026" cy="1340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… i dostosowuje się do potrzeb pracownika…</a:t>
            </a:r>
          </a:p>
        </p:txBody>
      </p:sp>
      <p:pic>
        <p:nvPicPr>
          <p:cNvPr id="7" name="Obraz 6" descr="Obraz zawierający tekst, zrzut ekranu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E57312F-5CE8-6611-2CAE-D03D46223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5084" y="1062653"/>
            <a:ext cx="4374724" cy="3110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Obraz 8" descr="Obraz zawierający tekst, zrzut ekranu, kreskówka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5B085F9A-40D8-8C7B-109F-B30149BFC7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67809" y="2215810"/>
            <a:ext cx="5165341" cy="36731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Obraz 9" descr="Obraz zawierający tekst, zrzut ekranu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11BD1DA-DD5E-0147-AC27-06C47CF94F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67809" y="2818441"/>
            <a:ext cx="5165340" cy="36731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121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EE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913761-DEF5-3C48-7AC5-70EBFB364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B8E5C25-A804-3F56-6D05-84A8CC3381F2}"/>
              </a:ext>
            </a:extLst>
          </p:cNvPr>
          <p:cNvSpPr/>
          <p:nvPr/>
        </p:nvSpPr>
        <p:spPr>
          <a:xfrm>
            <a:off x="7908471" y="-604185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Podtytuł 2">
            <a:extLst>
              <a:ext uri="{FF2B5EF4-FFF2-40B4-BE49-F238E27FC236}">
                <a16:creationId xmlns:a16="http://schemas.microsoft.com/office/drawing/2014/main" id="{CC4EF096-B89C-CDC1-E465-995102670281}"/>
              </a:ext>
            </a:extLst>
          </p:cNvPr>
          <p:cNvSpPr txBox="1">
            <a:spLocks/>
          </p:cNvSpPr>
          <p:nvPr/>
        </p:nvSpPr>
        <p:spPr>
          <a:xfrm>
            <a:off x="5351916" y="6289602"/>
            <a:ext cx="7943849" cy="1340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… krótkie, treściwe gdyż cenimy czas Twoich pracowników…</a:t>
            </a:r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CC5703AF-ED18-66A5-6A3D-1B05AE3F4163}"/>
              </a:ext>
            </a:extLst>
          </p:cNvPr>
          <p:cNvSpPr txBox="1">
            <a:spLocks/>
          </p:cNvSpPr>
          <p:nvPr/>
        </p:nvSpPr>
        <p:spPr>
          <a:xfrm>
            <a:off x="5130883" y="144808"/>
            <a:ext cx="6838185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NAUKA</a:t>
            </a:r>
          </a:p>
        </p:txBody>
      </p:sp>
      <p:sp>
        <p:nvSpPr>
          <p:cNvPr id="10" name="Podtytuł 2">
            <a:extLst>
              <a:ext uri="{FF2B5EF4-FFF2-40B4-BE49-F238E27FC236}">
                <a16:creationId xmlns:a16="http://schemas.microsoft.com/office/drawing/2014/main" id="{025F522A-14F6-A50B-90B7-D46E8B0698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30883" y="1077624"/>
            <a:ext cx="6838185" cy="1340156"/>
          </a:xfrm>
        </p:spPr>
        <p:txBody>
          <a:bodyPr>
            <a:noAutofit/>
          </a:bodyPr>
          <a:lstStyle/>
          <a:p>
            <a:r>
              <a:rPr lang="pl-PL" sz="1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Krótkie, cotygodniowe lekcje bezpieczeństwa ( 3 – 5 minut ), które dostosowują się do potrzeb pracownika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303A3EB8-5473-69D7-F422-AFAB9774C9BD}"/>
              </a:ext>
            </a:extLst>
          </p:cNvPr>
          <p:cNvSpPr/>
          <p:nvPr/>
        </p:nvSpPr>
        <p:spPr>
          <a:xfrm>
            <a:off x="1282700" y="718812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01F3D4F8-41DB-7F6D-57BE-F77E5B4B2E50}"/>
              </a:ext>
            </a:extLst>
          </p:cNvPr>
          <p:cNvSpPr/>
          <p:nvPr/>
        </p:nvSpPr>
        <p:spPr>
          <a:xfrm>
            <a:off x="4584700" y="7825504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D5E6E897-D40F-5FC3-71D9-6820F893F463}"/>
              </a:ext>
            </a:extLst>
          </p:cNvPr>
          <p:cNvSpPr/>
          <p:nvPr/>
        </p:nvSpPr>
        <p:spPr>
          <a:xfrm>
            <a:off x="7937500" y="8644654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68" name="Obraz 67" descr="Obraz zawierający tekst, zrzut ekranu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C5EC2F8-4933-81E1-B32A-29AD4C6D6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048" y="1062653"/>
            <a:ext cx="4374724" cy="3110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2" name="Obraz 71" descr="Obraz zawierający tekst, zrzut ekranu, kreskówka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2661DEA-DB23-CF74-4815-1AE6CEE599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5559" y="2215810"/>
            <a:ext cx="5165341" cy="36731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0" name="Obraz 69" descr="Obraz zawierający tekst, zrzut ekranu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31D12C3-C7BF-6575-3CB7-6778CE424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995" y="2818441"/>
            <a:ext cx="5165340" cy="36731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3" name="Obraz 72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AA1EB73-4465-0891-E82F-81B2118BD3F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53" y="7781021"/>
            <a:ext cx="2635199" cy="2986559"/>
          </a:xfrm>
          <a:prstGeom prst="rect">
            <a:avLst/>
          </a:prstGeom>
        </p:spPr>
      </p:pic>
      <p:pic>
        <p:nvPicPr>
          <p:cNvPr id="74" name="Obraz 73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9C1D2D5-54CF-86E1-ACD6-5F993BE2BC3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84" y="6937963"/>
            <a:ext cx="1583421" cy="3694648"/>
          </a:xfrm>
          <a:prstGeom prst="rect">
            <a:avLst/>
          </a:prstGeom>
        </p:spPr>
      </p:pic>
      <p:pic>
        <p:nvPicPr>
          <p:cNvPr id="76" name="Obraz 75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EAC6ED95-0726-4BAD-7435-838C4FFBBE3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09" y="7936939"/>
            <a:ext cx="3864191" cy="3864191"/>
          </a:xfrm>
          <a:prstGeom prst="rect">
            <a:avLst/>
          </a:prstGeom>
        </p:spPr>
      </p:pic>
      <p:pic>
        <p:nvPicPr>
          <p:cNvPr id="77" name="Obraz 76" descr="Obraz zawierający Czcionka, zrzut ekranu, symbol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177702E-919F-3368-C38B-465C614A26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48725">
            <a:off x="14909156" y="1532598"/>
            <a:ext cx="1397501" cy="74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8" name="Obraz 77" descr="Obraz zawierający Czcionka, zrzut ekranu, symbol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1BD94C3-711F-52EB-D1E8-7DC4816B847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988695">
            <a:off x="12971072" y="3283139"/>
            <a:ext cx="1397501" cy="74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9" name="Obraz 78" descr="Obraz zawierający Czcionka, zrzut ekranu, Grafika, symbo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E39002F-6508-0BA6-3BDC-B54EF15444D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287150">
            <a:off x="16584561" y="2749179"/>
            <a:ext cx="1388367" cy="7489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80" name="Obraz 79" descr="Obraz zawierający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30BAFC8-EA00-BD82-AF5B-4A13234125E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0" r="17548"/>
          <a:stretch/>
        </p:blipFill>
        <p:spPr>
          <a:xfrm>
            <a:off x="7773223" y="7623533"/>
            <a:ext cx="4022818" cy="2038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703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023370-C16A-54EF-2A83-C153BF39A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Obraz 25" descr="Obraz zawierający Czcionka, zrzut ekranu, symbol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9F2081D-F9AF-EE8E-EDC9-7A7D4303F4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5108">
            <a:off x="5731256" y="2317550"/>
            <a:ext cx="1397501" cy="74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8" name="Obraz 27" descr="Obraz zawierający Czcionka, zrzut ekranu, symbol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9192E40-56BA-77FA-EC0A-C8FB9A1CE9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6190">
            <a:off x="4910772" y="3611595"/>
            <a:ext cx="1397501" cy="74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0" name="Obraz 29" descr="Obraz zawierający Czcionka, zrzut ekranu, Grafika, symbo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9C4EE7B-5197-4C8A-507F-EAEFE5981C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26190">
            <a:off x="7315615" y="3066538"/>
            <a:ext cx="1388367" cy="7489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9" name="Obraz 38" descr="Obraz zawierający tekst, zrzut ekranu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C24A325E-7916-4439-37DB-9DD0A69232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75084" y="1062653"/>
            <a:ext cx="4374724" cy="311091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0" name="Obraz 39" descr="Obraz zawierający tekst, zrzut ekranu, kreskówka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150C9A9-F32D-15DE-3108-E45FE153B6A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67809" y="2215810"/>
            <a:ext cx="5165341" cy="36731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1" name="Obraz 40" descr="Obraz zawierający tekst, zrzut ekranu, design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2746D01D-ED74-E141-51F5-CB6DE14770E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67809" y="2818441"/>
            <a:ext cx="5165340" cy="367313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1DA1F316-9C2C-9748-9C08-930327C9F2B2}"/>
              </a:ext>
            </a:extLst>
          </p:cNvPr>
          <p:cNvSpPr/>
          <p:nvPr/>
        </p:nvSpPr>
        <p:spPr>
          <a:xfrm>
            <a:off x="7908471" y="-604185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9" name="Tytuł 1">
            <a:extLst>
              <a:ext uri="{FF2B5EF4-FFF2-40B4-BE49-F238E27FC236}">
                <a16:creationId xmlns:a16="http://schemas.microsoft.com/office/drawing/2014/main" id="{195D86BE-669B-08CB-A62A-50111CF3C52F}"/>
              </a:ext>
            </a:extLst>
          </p:cNvPr>
          <p:cNvSpPr txBox="1">
            <a:spLocks/>
          </p:cNvSpPr>
          <p:nvPr/>
        </p:nvSpPr>
        <p:spPr>
          <a:xfrm>
            <a:off x="524555" y="1848030"/>
            <a:ext cx="5290456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36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E88E064E-9A2D-5FAD-54F3-B6C33EFED594}"/>
              </a:ext>
            </a:extLst>
          </p:cNvPr>
          <p:cNvSpPr/>
          <p:nvPr/>
        </p:nvSpPr>
        <p:spPr>
          <a:xfrm>
            <a:off x="1282700" y="718812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62CE076E-A90F-1744-BEE1-E11FEEACFBC8}"/>
              </a:ext>
            </a:extLst>
          </p:cNvPr>
          <p:cNvSpPr/>
          <p:nvPr/>
        </p:nvSpPr>
        <p:spPr>
          <a:xfrm>
            <a:off x="4584700" y="7825504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F3FDCBDA-9B2E-412D-EEF9-8B8832D4F2D9}"/>
              </a:ext>
            </a:extLst>
          </p:cNvPr>
          <p:cNvSpPr/>
          <p:nvPr/>
        </p:nvSpPr>
        <p:spPr>
          <a:xfrm>
            <a:off x="7937500" y="8644654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Tytuł 1">
            <a:extLst>
              <a:ext uri="{FF2B5EF4-FFF2-40B4-BE49-F238E27FC236}">
                <a16:creationId xmlns:a16="http://schemas.microsoft.com/office/drawing/2014/main" id="{1D1EF92D-9458-15D3-5834-9F7E8EB528AF}"/>
              </a:ext>
            </a:extLst>
          </p:cNvPr>
          <p:cNvSpPr txBox="1">
            <a:spLocks/>
          </p:cNvSpPr>
          <p:nvPr/>
        </p:nvSpPr>
        <p:spPr>
          <a:xfrm>
            <a:off x="0" y="-57111"/>
            <a:ext cx="6838185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36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7" name="Podtytuł 2">
            <a:extLst>
              <a:ext uri="{FF2B5EF4-FFF2-40B4-BE49-F238E27FC236}">
                <a16:creationId xmlns:a16="http://schemas.microsoft.com/office/drawing/2014/main" id="{D5442CFE-D119-6DB6-9C45-A23825D9D6DB}"/>
              </a:ext>
            </a:extLst>
          </p:cNvPr>
          <p:cNvSpPr txBox="1">
            <a:spLocks/>
          </p:cNvSpPr>
          <p:nvPr/>
        </p:nvSpPr>
        <p:spPr>
          <a:xfrm>
            <a:off x="0" y="875705"/>
            <a:ext cx="6838185" cy="1340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sz="1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pic>
        <p:nvPicPr>
          <p:cNvPr id="17" name="Obraz 16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78BDA11-FDC7-6058-7357-7D148502A1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953" y="3916830"/>
            <a:ext cx="2635199" cy="2986559"/>
          </a:xfrm>
          <a:prstGeom prst="rect">
            <a:avLst/>
          </a:prstGeom>
        </p:spPr>
      </p:pic>
      <p:pic>
        <p:nvPicPr>
          <p:cNvPr id="20" name="Obraz 19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988862F-878C-D03F-4E9A-5856DF8BD36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52" y="3186047"/>
            <a:ext cx="1583421" cy="3694648"/>
          </a:xfrm>
          <a:prstGeom prst="rect">
            <a:avLst/>
          </a:prstGeom>
        </p:spPr>
      </p:pic>
      <p:pic>
        <p:nvPicPr>
          <p:cNvPr id="22" name="Obraz 21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4A17497A-40A8-D8DB-25CF-23272F00BC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09" y="2993809"/>
            <a:ext cx="3864191" cy="3864191"/>
          </a:xfrm>
          <a:prstGeom prst="rect">
            <a:avLst/>
          </a:prstGeom>
        </p:spPr>
      </p:pic>
      <p:pic>
        <p:nvPicPr>
          <p:cNvPr id="32" name="Obraz 31" descr="Obraz zawierający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2E0195A-CFCF-F362-EA42-9A7F904E4C3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0" r="17548"/>
          <a:stretch/>
        </p:blipFill>
        <p:spPr>
          <a:xfrm>
            <a:off x="7773223" y="4258983"/>
            <a:ext cx="4022818" cy="2038435"/>
          </a:xfrm>
          <a:prstGeom prst="rect">
            <a:avLst/>
          </a:prstGeom>
        </p:spPr>
      </p:pic>
      <p:sp>
        <p:nvSpPr>
          <p:cNvPr id="33" name="Tytuł 1">
            <a:extLst>
              <a:ext uri="{FF2B5EF4-FFF2-40B4-BE49-F238E27FC236}">
                <a16:creationId xmlns:a16="http://schemas.microsoft.com/office/drawing/2014/main" id="{AB7C1FE5-52B0-62A6-FF45-98FEF552D740}"/>
              </a:ext>
            </a:extLst>
          </p:cNvPr>
          <p:cNvSpPr txBox="1">
            <a:spLocks/>
          </p:cNvSpPr>
          <p:nvPr/>
        </p:nvSpPr>
        <p:spPr>
          <a:xfrm>
            <a:off x="0" y="84465"/>
            <a:ext cx="6838185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BUDOWANIE</a:t>
            </a:r>
            <a:endParaRPr lang="pl-PL" sz="36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4" name="Podtytuł 2">
            <a:extLst>
              <a:ext uri="{FF2B5EF4-FFF2-40B4-BE49-F238E27FC236}">
                <a16:creationId xmlns:a16="http://schemas.microsoft.com/office/drawing/2014/main" id="{CC8DF463-DFBB-0E9A-53F9-78D0B4733E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017281"/>
            <a:ext cx="6838185" cy="1340156"/>
          </a:xfrm>
        </p:spPr>
        <p:txBody>
          <a:bodyPr>
            <a:noAutofit/>
          </a:bodyPr>
          <a:lstStyle/>
          <a:p>
            <a:r>
              <a:rPr lang="pl-PL" sz="1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Rozrastanie swojego lasu z każdą </a:t>
            </a:r>
            <a:br>
              <a:rPr lang="pl-PL" sz="1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1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ukończoną lekcją</a:t>
            </a:r>
          </a:p>
        </p:txBody>
      </p:sp>
      <p:pic>
        <p:nvPicPr>
          <p:cNvPr id="50" name="Obraz 49" descr="Obraz zawierający tekst, zrzut ekranu, warzyw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4413669-C6B9-0E17-B102-EB9834117C5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791" y="1524001"/>
            <a:ext cx="6625216" cy="47112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1" name="Obraz 50" descr="Obraz zawierający tekst, zrzut ekranu, numer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712B8259-F0D6-5811-33AB-ED261F14A12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0942" y="2893809"/>
            <a:ext cx="5008293" cy="35614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169874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6CC46-E970-7039-2EB1-6F72F3D4B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Obraz 42" descr="Obraz zawierający Czcionka, zrzut ekranu, symbol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B4F2952-5C3B-657B-6A44-4B64A65C7B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777618">
            <a:off x="-3835737" y="7131246"/>
            <a:ext cx="1397501" cy="74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4" name="Obraz 43" descr="Obraz zawierający Czcionka, zrzut ekranu, symbol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4577AEB-EA72-19E9-BBC4-7900ED98F0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317588">
            <a:off x="-5773821" y="8881787"/>
            <a:ext cx="1397501" cy="74898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45" name="Obraz 44" descr="Obraz zawierający Czcionka, zrzut ekranu, Grafika, symbo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7F803B3-A877-FF6C-08A3-045379C78A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616043">
            <a:off x="-2160332" y="8347827"/>
            <a:ext cx="1388367" cy="748987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7A9601AB-59AC-26EF-CAFD-0B6548207E35}"/>
              </a:ext>
            </a:extLst>
          </p:cNvPr>
          <p:cNvSpPr/>
          <p:nvPr/>
        </p:nvSpPr>
        <p:spPr>
          <a:xfrm>
            <a:off x="7908471" y="-604185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353631E4-3B19-004A-9575-3337AEF500F0}"/>
              </a:ext>
            </a:extLst>
          </p:cNvPr>
          <p:cNvSpPr/>
          <p:nvPr/>
        </p:nvSpPr>
        <p:spPr>
          <a:xfrm>
            <a:off x="1282700" y="718812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24CC709D-7EAF-D8F4-0959-F3A3E0D8506D}"/>
              </a:ext>
            </a:extLst>
          </p:cNvPr>
          <p:cNvSpPr/>
          <p:nvPr/>
        </p:nvSpPr>
        <p:spPr>
          <a:xfrm>
            <a:off x="4584700" y="7825504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E6D20233-322B-529F-9D4B-D9C216694CAF}"/>
              </a:ext>
            </a:extLst>
          </p:cNvPr>
          <p:cNvSpPr/>
          <p:nvPr/>
        </p:nvSpPr>
        <p:spPr>
          <a:xfrm>
            <a:off x="7937500" y="8644654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Tytuł 1">
            <a:extLst>
              <a:ext uri="{FF2B5EF4-FFF2-40B4-BE49-F238E27FC236}">
                <a16:creationId xmlns:a16="http://schemas.microsoft.com/office/drawing/2014/main" id="{9D520F86-E8D8-8518-A623-69C342682451}"/>
              </a:ext>
            </a:extLst>
          </p:cNvPr>
          <p:cNvSpPr txBox="1">
            <a:spLocks/>
          </p:cNvSpPr>
          <p:nvPr/>
        </p:nvSpPr>
        <p:spPr>
          <a:xfrm>
            <a:off x="6678612" y="1848030"/>
            <a:ext cx="5290456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36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6" name="Podtytuł 2">
            <a:extLst>
              <a:ext uri="{FF2B5EF4-FFF2-40B4-BE49-F238E27FC236}">
                <a16:creationId xmlns:a16="http://schemas.microsoft.com/office/drawing/2014/main" id="{4529382A-2A66-87C9-3B71-6745D03DBF89}"/>
              </a:ext>
            </a:extLst>
          </p:cNvPr>
          <p:cNvSpPr txBox="1">
            <a:spLocks/>
          </p:cNvSpPr>
          <p:nvPr/>
        </p:nvSpPr>
        <p:spPr>
          <a:xfrm>
            <a:off x="6533468" y="2780846"/>
            <a:ext cx="5435599" cy="1340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sz="20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pic>
        <p:nvPicPr>
          <p:cNvPr id="3" name="Obraz 2" descr="Obraz zawierający tekst, zrzut ekranu, warzyw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BE9C6DE-1060-9690-FE46-ECBFF78CBB1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3852" y="1524001"/>
            <a:ext cx="6625216" cy="47112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8" name="Tytuł 1">
            <a:extLst>
              <a:ext uri="{FF2B5EF4-FFF2-40B4-BE49-F238E27FC236}">
                <a16:creationId xmlns:a16="http://schemas.microsoft.com/office/drawing/2014/main" id="{F672400D-D86A-9515-8E19-ED0F78E0542F}"/>
              </a:ext>
            </a:extLst>
          </p:cNvPr>
          <p:cNvSpPr txBox="1">
            <a:spLocks/>
          </p:cNvSpPr>
          <p:nvPr/>
        </p:nvSpPr>
        <p:spPr>
          <a:xfrm>
            <a:off x="6212199" y="2161537"/>
            <a:ext cx="6838185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pl-PL" sz="36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4D812A6F-5C1A-3149-45A3-484B35051326}"/>
              </a:ext>
            </a:extLst>
          </p:cNvPr>
          <p:cNvSpPr txBox="1">
            <a:spLocks/>
          </p:cNvSpPr>
          <p:nvPr/>
        </p:nvSpPr>
        <p:spPr>
          <a:xfrm>
            <a:off x="6212199" y="3094353"/>
            <a:ext cx="6838185" cy="1340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l-PL" sz="18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0" name="Tytuł 1">
            <a:extLst>
              <a:ext uri="{FF2B5EF4-FFF2-40B4-BE49-F238E27FC236}">
                <a16:creationId xmlns:a16="http://schemas.microsoft.com/office/drawing/2014/main" id="{9B9F5083-5293-4B36-0E0F-FA35D9F938C0}"/>
              </a:ext>
            </a:extLst>
          </p:cNvPr>
          <p:cNvSpPr txBox="1">
            <a:spLocks/>
          </p:cNvSpPr>
          <p:nvPr/>
        </p:nvSpPr>
        <p:spPr>
          <a:xfrm>
            <a:off x="0" y="100331"/>
            <a:ext cx="6838185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RYWALIZAJCA</a:t>
            </a:r>
          </a:p>
        </p:txBody>
      </p:sp>
      <p:sp>
        <p:nvSpPr>
          <p:cNvPr id="21" name="Podtytuł 2">
            <a:extLst>
              <a:ext uri="{FF2B5EF4-FFF2-40B4-BE49-F238E27FC236}">
                <a16:creationId xmlns:a16="http://schemas.microsoft.com/office/drawing/2014/main" id="{8A269430-4041-BCA0-2565-4C84E3E76F65}"/>
              </a:ext>
            </a:extLst>
          </p:cNvPr>
          <p:cNvSpPr txBox="1">
            <a:spLocks/>
          </p:cNvSpPr>
          <p:nvPr/>
        </p:nvSpPr>
        <p:spPr>
          <a:xfrm>
            <a:off x="0" y="1033147"/>
            <a:ext cx="6838185" cy="1340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8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Rankingi zespołowe napędzające </a:t>
            </a:r>
            <a:br>
              <a:rPr lang="pl-PL" sz="18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18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przyjazną konkurencję</a:t>
            </a:r>
          </a:p>
        </p:txBody>
      </p:sp>
      <p:pic>
        <p:nvPicPr>
          <p:cNvPr id="22" name="Obraz 21" descr="Obraz zawierający tekst, zrzut ekranu, numer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A9BC4A2-790E-79AA-8FBD-12EFF537C6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9143" y="2893809"/>
            <a:ext cx="5008293" cy="35614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3" name="Obraz 22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9F12874-641D-8271-4D1D-D5C9B3358A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905" y="8721625"/>
            <a:ext cx="2635199" cy="2986559"/>
          </a:xfrm>
          <a:prstGeom prst="rect">
            <a:avLst/>
          </a:prstGeom>
        </p:spPr>
      </p:pic>
      <p:pic>
        <p:nvPicPr>
          <p:cNvPr id="24" name="Obraz 23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6FB7D10-6561-E2F0-C421-F6681F2EE9A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008" y="6975767"/>
            <a:ext cx="3864191" cy="3864191"/>
          </a:xfrm>
          <a:prstGeom prst="rect">
            <a:avLst/>
          </a:prstGeom>
        </p:spPr>
      </p:pic>
      <p:pic>
        <p:nvPicPr>
          <p:cNvPr id="25" name="Obraz 24" descr="Obraz zawierający zrzut ekranu, piksel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27BA082-B9EB-6084-A01A-ED73FA59B6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52" y="7357666"/>
            <a:ext cx="1583421" cy="3694648"/>
          </a:xfrm>
          <a:prstGeom prst="rect">
            <a:avLst/>
          </a:prstGeom>
        </p:spPr>
      </p:pic>
      <p:pic>
        <p:nvPicPr>
          <p:cNvPr id="26" name="Obraz 25" descr="Obraz zawierający Wielobarwność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7EAEF7B-05BD-8E35-6FC6-7F0C93366F1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0" r="17548"/>
          <a:stretch/>
        </p:blipFill>
        <p:spPr>
          <a:xfrm>
            <a:off x="7773223" y="7166555"/>
            <a:ext cx="4022818" cy="2038435"/>
          </a:xfrm>
          <a:prstGeom prst="rect">
            <a:avLst/>
          </a:prstGeom>
        </p:spPr>
      </p:pic>
      <p:pic>
        <p:nvPicPr>
          <p:cNvPr id="29" name="Obraz 28" descr="Obraz zawierający tekst, zrzut ekranu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54E9AFD-6BFE-E162-547E-4794192FFAA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7653" y="1909688"/>
            <a:ext cx="5325639" cy="37871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0" name="Obraz 29" descr="Obraz zawierający tekst, zrzut ekranu, oprogramowanie, Strona internetow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B658053-5477-00CF-A7ED-C472D9FF9D8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56" y="7533228"/>
            <a:ext cx="4713344" cy="3351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1" name="Obraz 30" descr="Obraz zawierający tekst, zrzut ekranu, oprogramowanie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6BC7E47-171F-98F3-A962-17AD766822A7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848187" y="760436"/>
            <a:ext cx="4713344" cy="3351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69403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DBE59-7454-6FA9-0DCF-C9F1F7BD5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D8C3518A-9FCE-8BCA-70EF-624CC12001CD}"/>
              </a:ext>
            </a:extLst>
          </p:cNvPr>
          <p:cNvSpPr/>
          <p:nvPr/>
        </p:nvSpPr>
        <p:spPr>
          <a:xfrm>
            <a:off x="7908471" y="-6041851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1E855BDA-CC2C-B42E-51E1-4DD28BBF60A9}"/>
              </a:ext>
            </a:extLst>
          </p:cNvPr>
          <p:cNvSpPr/>
          <p:nvPr/>
        </p:nvSpPr>
        <p:spPr>
          <a:xfrm>
            <a:off x="1282700" y="718812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62154DBA-6D5D-6345-4EA1-11EE16C63C78}"/>
              </a:ext>
            </a:extLst>
          </p:cNvPr>
          <p:cNvSpPr/>
          <p:nvPr/>
        </p:nvSpPr>
        <p:spPr>
          <a:xfrm>
            <a:off x="4584700" y="7825504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C2570925-6D3E-F699-CC8C-A4CCEF85965F}"/>
              </a:ext>
            </a:extLst>
          </p:cNvPr>
          <p:cNvSpPr/>
          <p:nvPr/>
        </p:nvSpPr>
        <p:spPr>
          <a:xfrm>
            <a:off x="7937500" y="8644654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8" name="Tytuł 1">
            <a:extLst>
              <a:ext uri="{FF2B5EF4-FFF2-40B4-BE49-F238E27FC236}">
                <a16:creationId xmlns:a16="http://schemas.microsoft.com/office/drawing/2014/main" id="{A66EE26D-F9CF-86CE-8D6E-744E1317B931}"/>
              </a:ext>
            </a:extLst>
          </p:cNvPr>
          <p:cNvSpPr txBox="1">
            <a:spLocks/>
          </p:cNvSpPr>
          <p:nvPr/>
        </p:nvSpPr>
        <p:spPr>
          <a:xfrm>
            <a:off x="5130883" y="144808"/>
            <a:ext cx="6838185" cy="93904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3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TESTOWANIE</a:t>
            </a: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3D304D24-FC96-4D69-3BDF-4FC5C4770F42}"/>
              </a:ext>
            </a:extLst>
          </p:cNvPr>
          <p:cNvSpPr txBox="1">
            <a:spLocks/>
          </p:cNvSpPr>
          <p:nvPr/>
        </p:nvSpPr>
        <p:spPr>
          <a:xfrm>
            <a:off x="5130883" y="1077624"/>
            <a:ext cx="6838185" cy="134015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8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Realistyczne testy w naturalnym środowisku </a:t>
            </a:r>
          </a:p>
        </p:txBody>
      </p:sp>
      <p:sp>
        <p:nvSpPr>
          <p:cNvPr id="25" name="Podtytuł 2">
            <a:extLst>
              <a:ext uri="{FF2B5EF4-FFF2-40B4-BE49-F238E27FC236}">
                <a16:creationId xmlns:a16="http://schemas.microsoft.com/office/drawing/2014/main" id="{58A1B2D0-3286-8C58-4E98-D81656C1C425}"/>
              </a:ext>
            </a:extLst>
          </p:cNvPr>
          <p:cNvSpPr txBox="1">
            <a:spLocks/>
          </p:cNvSpPr>
          <p:nvPr/>
        </p:nvSpPr>
        <p:spPr>
          <a:xfrm>
            <a:off x="5351916" y="6289602"/>
            <a:ext cx="7943849" cy="134013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16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… wtedy, kiedy nikt się nie spodziewa …</a:t>
            </a:r>
          </a:p>
        </p:txBody>
      </p:sp>
      <p:pic>
        <p:nvPicPr>
          <p:cNvPr id="26" name="Obraz 25" descr="Obraz zawierający tekst, zrzut ekranu, warzywo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A0AA40CB-F752-F54A-6DD3-3154D54535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791" y="1524001"/>
            <a:ext cx="6625216" cy="471126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7" name="Obraz 26" descr="Obraz zawierający tekst, zrzut ekranu, numer, oprogramowa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94DD743E-40D2-EF5C-9896-11E7F881BB9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1198" y="2728150"/>
            <a:ext cx="5008293" cy="356145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Obraz 4" descr="Obraz zawierający tekst, zrzut ekranu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BE6FD435-65CF-A3DD-0B6A-AFFAC79BC2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461" y="1909688"/>
            <a:ext cx="5325639" cy="37871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7" name="Obraz 6" descr="Obraz zawierający tekst, zrzut ekranu, oprogramowanie, Strona internetow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84488ED0-6337-4C68-FD3D-1C2DBCC6A6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56" y="3153676"/>
            <a:ext cx="4713344" cy="3351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7" name="Obraz 16" descr="Obraz zawierający tekst, zrzut ekranu, oprogramowanie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00BDC93A-F34B-2C08-18DC-E0038DC606C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41" y="760436"/>
            <a:ext cx="4713344" cy="3351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898876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F03CD-5E27-E325-2C24-FAF27F3CAD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AF173A11-4059-8FFC-A0B7-40B7FFFE8849}"/>
              </a:ext>
            </a:extLst>
          </p:cNvPr>
          <p:cNvSpPr/>
          <p:nvPr/>
        </p:nvSpPr>
        <p:spPr>
          <a:xfrm>
            <a:off x="1282699" y="4951676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0FDB52E9-4BC5-E3BA-6F22-DBA7A5124F0F}"/>
              </a:ext>
            </a:extLst>
          </p:cNvPr>
          <p:cNvSpPr/>
          <p:nvPr/>
        </p:nvSpPr>
        <p:spPr>
          <a:xfrm>
            <a:off x="4584700" y="4342076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3DAD7B01-C462-D029-C8EB-E214F719EAF4}"/>
              </a:ext>
            </a:extLst>
          </p:cNvPr>
          <p:cNvSpPr/>
          <p:nvPr/>
        </p:nvSpPr>
        <p:spPr>
          <a:xfrm>
            <a:off x="7937500" y="5362396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05EFE8B-41B1-3E32-0B99-F3AA3BC7F996}"/>
              </a:ext>
            </a:extLst>
          </p:cNvPr>
          <p:cNvSpPr/>
          <p:nvPr/>
        </p:nvSpPr>
        <p:spPr>
          <a:xfrm>
            <a:off x="7937500" y="-604098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Podtytuł 2">
            <a:extLst>
              <a:ext uri="{FF2B5EF4-FFF2-40B4-BE49-F238E27FC236}">
                <a16:creationId xmlns:a16="http://schemas.microsoft.com/office/drawing/2014/main" id="{8D59830F-D510-8D05-C1CE-5399CA3F6945}"/>
              </a:ext>
            </a:extLst>
          </p:cNvPr>
          <p:cNvSpPr txBox="1">
            <a:spLocks/>
          </p:cNvSpPr>
          <p:nvPr/>
        </p:nvSpPr>
        <p:spPr>
          <a:xfrm>
            <a:off x="6850742" y="2376740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pl-PL" sz="2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2" name="Podtytuł 2">
            <a:extLst>
              <a:ext uri="{FF2B5EF4-FFF2-40B4-BE49-F238E27FC236}">
                <a16:creationId xmlns:a16="http://schemas.microsoft.com/office/drawing/2014/main" id="{720B3317-19BA-8EA5-A4D5-18C98D8B849F}"/>
              </a:ext>
            </a:extLst>
          </p:cNvPr>
          <p:cNvSpPr txBox="1">
            <a:spLocks/>
          </p:cNvSpPr>
          <p:nvPr/>
        </p:nvSpPr>
        <p:spPr>
          <a:xfrm>
            <a:off x="195942" y="3578813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wyższe zaangażowanie</a:t>
            </a: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F073CAF2-866B-6307-919E-A387624FB892}"/>
              </a:ext>
            </a:extLst>
          </p:cNvPr>
          <p:cNvSpPr txBox="1">
            <a:spLocks/>
          </p:cNvSpPr>
          <p:nvPr/>
        </p:nvSpPr>
        <p:spPr>
          <a:xfrm>
            <a:off x="6850742" y="4005470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l</a:t>
            </a:r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epsza retencja wiedzy</a:t>
            </a: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425A0232-C2A5-F244-08E1-E6F1160F9BEC}"/>
              </a:ext>
            </a:extLst>
          </p:cNvPr>
          <p:cNvSpPr txBox="1">
            <a:spLocks/>
          </p:cNvSpPr>
          <p:nvPr/>
        </p:nvSpPr>
        <p:spPr>
          <a:xfrm>
            <a:off x="3497942" y="2648544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większa skuteczność</a:t>
            </a:r>
            <a:endParaRPr lang="pl-PL" sz="28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2776CCF0-A767-D444-78CF-875CA1D28E0F}"/>
              </a:ext>
            </a:extLst>
          </p:cNvPr>
          <p:cNvSpPr txBox="1">
            <a:spLocks/>
          </p:cNvSpPr>
          <p:nvPr/>
        </p:nvSpPr>
        <p:spPr>
          <a:xfrm>
            <a:off x="0" y="1371847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Dlaczego </a:t>
            </a:r>
            <a:r>
              <a:rPr lang="pl-PL" sz="5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gamefikacja</a:t>
            </a:r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?</a:t>
            </a:r>
          </a:p>
        </p:txBody>
      </p:sp>
      <p:pic>
        <p:nvPicPr>
          <p:cNvPr id="23" name="Obraz 22" descr="Obraz zawierający owoce, jabłko, czerwony, jedze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5C82BAF9-9EC9-FC41-FCA6-87B8BF24F8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38373" y="-12858920"/>
            <a:ext cx="6353627" cy="6353627"/>
          </a:xfrm>
          <a:prstGeom prst="rect">
            <a:avLst/>
          </a:prstGeom>
        </p:spPr>
      </p:pic>
      <p:pic>
        <p:nvPicPr>
          <p:cNvPr id="10" name="Obraz 9" descr="Obraz zawierający tekst, zrzut ekranu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62EF9EFE-AAE2-1E6B-7BA9-427101A3A2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461" y="-5040267"/>
            <a:ext cx="5325639" cy="378712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" name="Obraz 2" descr="Obraz zawierający tekst, zrzut ekranu, oprogramowanie, Strona internetow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DC6A9B41-F882-A281-7788-CFAD20A4288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056" y="-3828746"/>
            <a:ext cx="4713344" cy="3351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Obraz 8" descr="Obraz zawierający tekst, zrzut ekranu, oprogramowanie, diagram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32E9789-7E23-AAF5-34C1-8474264BC2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41" y="-4870043"/>
            <a:ext cx="4713344" cy="335171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770921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6DA73B-D9C1-39BB-5BF8-CFA5C5361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AE1A3DBC-3BA7-BC6C-B6C9-E77BED550EB4}"/>
              </a:ext>
            </a:extLst>
          </p:cNvPr>
          <p:cNvSpPr/>
          <p:nvPr/>
        </p:nvSpPr>
        <p:spPr>
          <a:xfrm>
            <a:off x="1288142" y="4501884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EB9E1A7-81D4-A85A-408F-53B2B49AB194}"/>
              </a:ext>
            </a:extLst>
          </p:cNvPr>
          <p:cNvSpPr/>
          <p:nvPr/>
        </p:nvSpPr>
        <p:spPr>
          <a:xfrm>
            <a:off x="4584700" y="5207914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5463E761-F764-4727-0704-C5914410D595}"/>
              </a:ext>
            </a:extLst>
          </p:cNvPr>
          <p:cNvSpPr/>
          <p:nvPr/>
        </p:nvSpPr>
        <p:spPr>
          <a:xfrm>
            <a:off x="7937500" y="4681823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440A61E7-73F1-C867-5199-E8C2D20ED362}"/>
              </a:ext>
            </a:extLst>
          </p:cNvPr>
          <p:cNvSpPr/>
          <p:nvPr/>
        </p:nvSpPr>
        <p:spPr>
          <a:xfrm>
            <a:off x="7937500" y="-604098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11" name="Podtytuł 2">
            <a:extLst>
              <a:ext uri="{FF2B5EF4-FFF2-40B4-BE49-F238E27FC236}">
                <a16:creationId xmlns:a16="http://schemas.microsoft.com/office/drawing/2014/main" id="{4AE98804-F857-C418-2853-7130EE449741}"/>
              </a:ext>
            </a:extLst>
          </p:cNvPr>
          <p:cNvSpPr txBox="1">
            <a:spLocks/>
          </p:cNvSpPr>
          <p:nvPr/>
        </p:nvSpPr>
        <p:spPr>
          <a:xfrm>
            <a:off x="6850742" y="2376740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pl-PL" sz="2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2" name="Podtytuł 2">
            <a:extLst>
              <a:ext uri="{FF2B5EF4-FFF2-40B4-BE49-F238E27FC236}">
                <a16:creationId xmlns:a16="http://schemas.microsoft.com/office/drawing/2014/main" id="{35D58BCF-9CAC-D641-3A37-B6D221459440}"/>
              </a:ext>
            </a:extLst>
          </p:cNvPr>
          <p:cNvSpPr txBox="1">
            <a:spLocks/>
          </p:cNvSpPr>
          <p:nvPr/>
        </p:nvSpPr>
        <p:spPr>
          <a:xfrm>
            <a:off x="-183244" y="3452983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vishing</a:t>
            </a:r>
            <a:endParaRPr lang="pl-PL" sz="2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5" name="Podtytuł 2">
            <a:extLst>
              <a:ext uri="{FF2B5EF4-FFF2-40B4-BE49-F238E27FC236}">
                <a16:creationId xmlns:a16="http://schemas.microsoft.com/office/drawing/2014/main" id="{935EA832-2524-AB6B-4ECC-339D2FCA600E}"/>
              </a:ext>
            </a:extLst>
          </p:cNvPr>
          <p:cNvSpPr txBox="1">
            <a:spLocks/>
          </p:cNvSpPr>
          <p:nvPr/>
        </p:nvSpPr>
        <p:spPr>
          <a:xfrm>
            <a:off x="7445828" y="3775683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smishing</a:t>
            </a:r>
            <a:endParaRPr lang="pl-PL" sz="2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9" name="Podtytuł 2">
            <a:extLst>
              <a:ext uri="{FF2B5EF4-FFF2-40B4-BE49-F238E27FC236}">
                <a16:creationId xmlns:a16="http://schemas.microsoft.com/office/drawing/2014/main" id="{8CA92B45-942F-2F36-9347-F78C386017CE}"/>
              </a:ext>
            </a:extLst>
          </p:cNvPr>
          <p:cNvSpPr txBox="1">
            <a:spLocks/>
          </p:cNvSpPr>
          <p:nvPr/>
        </p:nvSpPr>
        <p:spPr>
          <a:xfrm>
            <a:off x="638629" y="2519901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phishing</a:t>
            </a:r>
            <a:endParaRPr lang="pl-PL" sz="2800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E095BEA3-B296-186F-5B58-25720A476F5F}"/>
              </a:ext>
            </a:extLst>
          </p:cNvPr>
          <p:cNvSpPr txBox="1">
            <a:spLocks/>
          </p:cNvSpPr>
          <p:nvPr/>
        </p:nvSpPr>
        <p:spPr>
          <a:xfrm>
            <a:off x="0" y="1362422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48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Kompleksowe podejście do zagrożeń</a:t>
            </a:r>
          </a:p>
        </p:txBody>
      </p:sp>
      <p:sp>
        <p:nvSpPr>
          <p:cNvPr id="2" name="Podtytuł 2">
            <a:extLst>
              <a:ext uri="{FF2B5EF4-FFF2-40B4-BE49-F238E27FC236}">
                <a16:creationId xmlns:a16="http://schemas.microsoft.com/office/drawing/2014/main" id="{24049053-C4A1-1B4C-5ED4-F0F1AE1A87FC}"/>
              </a:ext>
            </a:extLst>
          </p:cNvPr>
          <p:cNvSpPr txBox="1">
            <a:spLocks/>
          </p:cNvSpPr>
          <p:nvPr/>
        </p:nvSpPr>
        <p:spPr>
          <a:xfrm>
            <a:off x="4584700" y="2996081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dirty="0"/>
              <a:t>wyłudzenia przez telefon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96D5FFF9-A517-804E-401E-7EFDCBCD63CD}"/>
              </a:ext>
            </a:extLst>
          </p:cNvPr>
          <p:cNvSpPr txBox="1">
            <a:spLocks/>
          </p:cNvSpPr>
          <p:nvPr/>
        </p:nvSpPr>
        <p:spPr>
          <a:xfrm>
            <a:off x="7148285" y="2271209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pretexting</a:t>
            </a:r>
            <a:endParaRPr lang="pl-PL" sz="2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7" name="Podtytuł 2">
            <a:extLst>
              <a:ext uri="{FF2B5EF4-FFF2-40B4-BE49-F238E27FC236}">
                <a16:creationId xmlns:a16="http://schemas.microsoft.com/office/drawing/2014/main" id="{E189C810-940F-114B-020A-422CB2D604BE}"/>
              </a:ext>
            </a:extLst>
          </p:cNvPr>
          <p:cNvSpPr txBox="1">
            <a:spLocks/>
          </p:cNvSpPr>
          <p:nvPr/>
        </p:nvSpPr>
        <p:spPr>
          <a:xfrm>
            <a:off x="3497941" y="4028616"/>
            <a:ext cx="5196115" cy="41720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l-PL" sz="2800" dirty="0" err="1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baiting</a:t>
            </a:r>
            <a:endParaRPr lang="pl-PL" sz="2800" dirty="0">
              <a:effectLst/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E6A3A3FA-45A1-E575-B533-08B006F77969}"/>
              </a:ext>
            </a:extLst>
          </p:cNvPr>
          <p:cNvSpPr/>
          <p:nvPr/>
        </p:nvSpPr>
        <p:spPr>
          <a:xfrm>
            <a:off x="-2085524" y="-1011529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Świadomość bezpieczeństwa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F9A3242F-DE31-D64A-0B30-0FE92C69DACD}"/>
              </a:ext>
            </a:extLst>
          </p:cNvPr>
          <p:cNvSpPr/>
          <p:nvPr/>
        </p:nvSpPr>
        <p:spPr>
          <a:xfrm>
            <a:off x="-2602596" y="5488213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RODO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10D6C0FE-5C93-54FC-B03C-29D5D58A99CB}"/>
              </a:ext>
            </a:extLst>
          </p:cNvPr>
          <p:cNvSpPr/>
          <p:nvPr/>
        </p:nvSpPr>
        <p:spPr>
          <a:xfrm>
            <a:off x="-2487388" y="1533555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Bezpieczeństwo urządzeń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6CA2E555-C646-8C75-7935-78C98D6C850D}"/>
              </a:ext>
            </a:extLst>
          </p:cNvPr>
          <p:cNvSpPr/>
          <p:nvPr/>
        </p:nvSpPr>
        <p:spPr>
          <a:xfrm>
            <a:off x="3497941" y="-1765295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Hasła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3BCB6066-4546-9C12-C33B-5AFF2BE3E281}"/>
              </a:ext>
            </a:extLst>
          </p:cNvPr>
          <p:cNvSpPr/>
          <p:nvPr/>
        </p:nvSpPr>
        <p:spPr>
          <a:xfrm>
            <a:off x="-252188" y="8763051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Bezpieczeństwo w miejscu pracy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144EB092-C627-C047-D57B-D9920220AB9B}"/>
              </a:ext>
            </a:extLst>
          </p:cNvPr>
          <p:cNvSpPr/>
          <p:nvPr/>
        </p:nvSpPr>
        <p:spPr>
          <a:xfrm>
            <a:off x="5795899" y="-1782090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Prywatność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1" name="Prostokąt: zaokrąglone rogi 20">
            <a:extLst>
              <a:ext uri="{FF2B5EF4-FFF2-40B4-BE49-F238E27FC236}">
                <a16:creationId xmlns:a16="http://schemas.microsoft.com/office/drawing/2014/main" id="{10A39AFA-6390-1D62-5C6C-260388737969}"/>
              </a:ext>
            </a:extLst>
          </p:cNvPr>
          <p:cNvSpPr/>
          <p:nvPr/>
        </p:nvSpPr>
        <p:spPr>
          <a:xfrm>
            <a:off x="7607300" y="9571269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Malware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BA399B70-3769-E452-D5FC-0C4DD6389E2C}"/>
              </a:ext>
            </a:extLst>
          </p:cNvPr>
          <p:cNvSpPr/>
          <p:nvPr/>
        </p:nvSpPr>
        <p:spPr>
          <a:xfrm>
            <a:off x="11190516" y="7861306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Phishing</a:t>
            </a:r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</a:p>
        </p:txBody>
      </p: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F5AD0C6F-AFFB-4BAA-9C85-3C16C743FBF8}"/>
              </a:ext>
            </a:extLst>
          </p:cNvPr>
          <p:cNvSpPr/>
          <p:nvPr/>
        </p:nvSpPr>
        <p:spPr>
          <a:xfrm>
            <a:off x="12641943" y="5844462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Bezpieczny </a:t>
            </a:r>
            <a:r>
              <a:rPr lang="pl-PL" sz="1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internet</a:t>
            </a:r>
            <a:endParaRPr lang="pl-PL" sz="14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5" name="Prostokąt: zaokrąglone rogi 24">
            <a:extLst>
              <a:ext uri="{FF2B5EF4-FFF2-40B4-BE49-F238E27FC236}">
                <a16:creationId xmlns:a16="http://schemas.microsoft.com/office/drawing/2014/main" id="{023864EE-69C1-7D7E-2F5A-E94828A55130}"/>
              </a:ext>
            </a:extLst>
          </p:cNvPr>
          <p:cNvSpPr/>
          <p:nvPr/>
        </p:nvSpPr>
        <p:spPr>
          <a:xfrm>
            <a:off x="12641943" y="2494376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Inżynieria społeczna</a:t>
            </a: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E065F01A-C49D-559F-E48A-332AC9464F07}"/>
              </a:ext>
            </a:extLst>
          </p:cNvPr>
          <p:cNvSpPr/>
          <p:nvPr/>
        </p:nvSpPr>
        <p:spPr>
          <a:xfrm>
            <a:off x="12199258" y="-1369787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Praca zdalna</a:t>
            </a:r>
          </a:p>
        </p:txBody>
      </p:sp>
    </p:spTree>
    <p:extLst>
      <p:ext uri="{BB962C8B-B14F-4D97-AF65-F5344CB8AC3E}">
        <p14:creationId xmlns:p14="http://schemas.microsoft.com/office/powerpoint/2010/main" val="1973191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E5094-5E67-518A-E4CB-0A16640F0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D703A6CC-5021-9E9D-0F20-0E59789A69DF}"/>
              </a:ext>
            </a:extLst>
          </p:cNvPr>
          <p:cNvSpPr/>
          <p:nvPr/>
        </p:nvSpPr>
        <p:spPr>
          <a:xfrm>
            <a:off x="1282699" y="703624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BF3A5AA6-655F-517B-4063-DEE85D18CDAE}"/>
              </a:ext>
            </a:extLst>
          </p:cNvPr>
          <p:cNvSpPr/>
          <p:nvPr/>
        </p:nvSpPr>
        <p:spPr>
          <a:xfrm>
            <a:off x="4584700" y="6976048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0A60A59D-000F-9297-6C82-EB22E0E0EA5B}"/>
              </a:ext>
            </a:extLst>
          </p:cNvPr>
          <p:cNvSpPr/>
          <p:nvPr/>
        </p:nvSpPr>
        <p:spPr>
          <a:xfrm>
            <a:off x="7937500" y="703624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ADBD9330-CEDB-4AB5-C592-BD0BA0F58574}"/>
              </a:ext>
            </a:extLst>
          </p:cNvPr>
          <p:cNvSpPr/>
          <p:nvPr/>
        </p:nvSpPr>
        <p:spPr>
          <a:xfrm>
            <a:off x="7937500" y="-6040983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22" name="Tytuł 1">
            <a:extLst>
              <a:ext uri="{FF2B5EF4-FFF2-40B4-BE49-F238E27FC236}">
                <a16:creationId xmlns:a16="http://schemas.microsoft.com/office/drawing/2014/main" id="{0B5C2289-70AF-806E-8109-C4674AC485A2}"/>
              </a:ext>
            </a:extLst>
          </p:cNvPr>
          <p:cNvSpPr txBox="1">
            <a:spLocks/>
          </p:cNvSpPr>
          <p:nvPr/>
        </p:nvSpPr>
        <p:spPr>
          <a:xfrm>
            <a:off x="-1" y="3109732"/>
            <a:ext cx="12192000" cy="63853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l-PL" sz="5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Moduły</a:t>
            </a:r>
          </a:p>
        </p:txBody>
      </p:sp>
      <p:pic>
        <p:nvPicPr>
          <p:cNvPr id="23" name="Obraz 22" descr="Obraz zawierający owoce, jabłko, czerwony, jedzenie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15194DD1-2F86-7D7D-9E2A-2B1357B269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838373" y="-12858920"/>
            <a:ext cx="6353627" cy="6353627"/>
          </a:xfrm>
          <a:prstGeom prst="rect">
            <a:avLst/>
          </a:prstGeom>
        </p:spPr>
      </p:pic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DC7BD7F-69E8-1D72-3D96-AD29F5461750}"/>
              </a:ext>
            </a:extLst>
          </p:cNvPr>
          <p:cNvSpPr/>
          <p:nvPr/>
        </p:nvSpPr>
        <p:spPr>
          <a:xfrm>
            <a:off x="490324" y="481230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Świadomość bezpieczeństwa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FCFE1C58-0057-5A18-CA67-286F0C0603E0}"/>
              </a:ext>
            </a:extLst>
          </p:cNvPr>
          <p:cNvSpPr/>
          <p:nvPr/>
        </p:nvSpPr>
        <p:spPr>
          <a:xfrm>
            <a:off x="597804" y="5006983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RODO</a:t>
            </a:r>
          </a:p>
        </p:txBody>
      </p: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8E0BB831-C430-45AD-F03A-87D29E4576E7}"/>
              </a:ext>
            </a:extLst>
          </p:cNvPr>
          <p:cNvSpPr/>
          <p:nvPr/>
        </p:nvSpPr>
        <p:spPr>
          <a:xfrm>
            <a:off x="1282698" y="2266947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Bezpieczeństwo urządzeń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BC8A1D4C-D2B9-C103-942D-116D845759B4}"/>
              </a:ext>
            </a:extLst>
          </p:cNvPr>
          <p:cNvSpPr/>
          <p:nvPr/>
        </p:nvSpPr>
        <p:spPr>
          <a:xfrm>
            <a:off x="3024303" y="717610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Hasła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773C7D70-8D28-BF72-AA05-625ABC198031}"/>
              </a:ext>
            </a:extLst>
          </p:cNvPr>
          <p:cNvSpPr/>
          <p:nvPr/>
        </p:nvSpPr>
        <p:spPr>
          <a:xfrm>
            <a:off x="2935512" y="4064051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Bezpieczeństwo w miejscu pracy</a:t>
            </a:r>
          </a:p>
        </p:txBody>
      </p: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7E0CEE83-AAA0-94ED-8C81-BCBCBFA5F511}"/>
              </a:ext>
            </a:extLst>
          </p:cNvPr>
          <p:cNvSpPr/>
          <p:nvPr/>
        </p:nvSpPr>
        <p:spPr>
          <a:xfrm>
            <a:off x="5795899" y="633659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Prywatność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6" name="Prostokąt: zaokrąglone rogi 25">
            <a:extLst>
              <a:ext uri="{FF2B5EF4-FFF2-40B4-BE49-F238E27FC236}">
                <a16:creationId xmlns:a16="http://schemas.microsoft.com/office/drawing/2014/main" id="{DE14410B-F4C8-39CC-D308-9BE6E173D30D}"/>
              </a:ext>
            </a:extLst>
          </p:cNvPr>
          <p:cNvSpPr/>
          <p:nvPr/>
        </p:nvSpPr>
        <p:spPr>
          <a:xfrm>
            <a:off x="5599792" y="4344455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Malware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C817A532-BC98-466E-58D0-C912DD637F74}"/>
              </a:ext>
            </a:extLst>
          </p:cNvPr>
          <p:cNvSpPr/>
          <p:nvPr/>
        </p:nvSpPr>
        <p:spPr>
          <a:xfrm>
            <a:off x="8042838" y="5118106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Phishing</a:t>
            </a:r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</a:p>
        </p:txBody>
      </p:sp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50811605-23F4-A808-4B68-6461A71B0336}"/>
              </a:ext>
            </a:extLst>
          </p:cNvPr>
          <p:cNvSpPr/>
          <p:nvPr/>
        </p:nvSpPr>
        <p:spPr>
          <a:xfrm>
            <a:off x="9916886" y="3748319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Bezpieczny </a:t>
            </a:r>
            <a:r>
              <a:rPr lang="pl-PL" sz="1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internet</a:t>
            </a:r>
            <a:endParaRPr lang="pl-PL" sz="14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6513C8AD-80B6-460A-D8E1-B8771A323DCD}"/>
              </a:ext>
            </a:extLst>
          </p:cNvPr>
          <p:cNvSpPr/>
          <p:nvPr/>
        </p:nvSpPr>
        <p:spPr>
          <a:xfrm>
            <a:off x="8042838" y="1567597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Inżynieria społeczna</a:t>
            </a:r>
          </a:p>
        </p:txBody>
      </p:sp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7A26A44A-29FC-373F-70E2-A44621AEC997}"/>
              </a:ext>
            </a:extLst>
          </p:cNvPr>
          <p:cNvSpPr/>
          <p:nvPr/>
        </p:nvSpPr>
        <p:spPr>
          <a:xfrm>
            <a:off x="9797143" y="347691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Praca zdalna</a:t>
            </a:r>
          </a:p>
        </p:txBody>
      </p:sp>
    </p:spTree>
    <p:extLst>
      <p:ext uri="{BB962C8B-B14F-4D97-AF65-F5344CB8AC3E}">
        <p14:creationId xmlns:p14="http://schemas.microsoft.com/office/powerpoint/2010/main" val="12885440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3410A2-5F14-B435-7C4C-F5AC54F65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4FB5135-950F-104E-40E1-D70110FDED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41515" y="2386657"/>
            <a:ext cx="5791200" cy="997672"/>
          </a:xfrm>
        </p:spPr>
        <p:txBody>
          <a:bodyPr>
            <a:noAutofit/>
          </a:bodyPr>
          <a:lstStyle/>
          <a:p>
            <a:r>
              <a:rPr lang="pl-PL" sz="8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PhishAware</a:t>
            </a:r>
            <a:endParaRPr lang="pl-PL" sz="8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4F9B9230-1E64-36FD-A88A-A548DA8760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1900" y="3365217"/>
            <a:ext cx="6786615" cy="473642"/>
          </a:xfrm>
        </p:spPr>
        <p:txBody>
          <a:bodyPr>
            <a:noAutofit/>
          </a:bodyPr>
          <a:lstStyle/>
          <a:p>
            <a: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Przekształcamy największe zagrożenie ( czynnik ludzki ) </a:t>
            </a:r>
            <a:b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</a:br>
            <a:r>
              <a:rPr lang="pl-PL" sz="2000" b="1" dirty="0">
                <a:effectLst/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w najsilniejszą linię obrony Twojej firmy</a:t>
            </a:r>
            <a:endParaRPr lang="pl-PL" sz="20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4" name="Prostokąt: zaokrąglone rogi 3">
            <a:extLst>
              <a:ext uri="{FF2B5EF4-FFF2-40B4-BE49-F238E27FC236}">
                <a16:creationId xmlns:a16="http://schemas.microsoft.com/office/drawing/2014/main" id="{9ED77DC4-13E4-79D1-A4C2-77F664D67E2C}"/>
              </a:ext>
            </a:extLst>
          </p:cNvPr>
          <p:cNvSpPr/>
          <p:nvPr/>
        </p:nvSpPr>
        <p:spPr>
          <a:xfrm>
            <a:off x="1282700" y="5611019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F3EFF4BF-0E3D-C42C-8279-C89943162605}"/>
              </a:ext>
            </a:extLst>
          </p:cNvPr>
          <p:cNvSpPr/>
          <p:nvPr/>
        </p:nvSpPr>
        <p:spPr>
          <a:xfrm>
            <a:off x="4584700" y="4410869"/>
            <a:ext cx="3022600" cy="5822950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CB889830-27DE-3200-CA13-CC439B150D2B}"/>
              </a:ext>
            </a:extLst>
          </p:cNvPr>
          <p:cNvSpPr/>
          <p:nvPr/>
        </p:nvSpPr>
        <p:spPr>
          <a:xfrm>
            <a:off x="7937500" y="3582988"/>
            <a:ext cx="3022600" cy="5822950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CC14C6A2-B7DC-837C-BD4A-340749A3CAA8}"/>
              </a:ext>
            </a:extLst>
          </p:cNvPr>
          <p:cNvSpPr/>
          <p:nvPr/>
        </p:nvSpPr>
        <p:spPr>
          <a:xfrm>
            <a:off x="7937500" y="-3193328"/>
            <a:ext cx="3022600" cy="5822950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>
              <a:ln>
                <a:solidFill>
                  <a:sysClr val="windowText" lastClr="000000"/>
                </a:solidFill>
              </a:ln>
              <a:solidFill>
                <a:sysClr val="windowText" lastClr="000000"/>
              </a:solidFill>
            </a:endParaRPr>
          </a:p>
        </p:txBody>
      </p:sp>
      <p:pic>
        <p:nvPicPr>
          <p:cNvPr id="14" name="Grafika 13">
            <a:extLst>
              <a:ext uri="{FF2B5EF4-FFF2-40B4-BE49-F238E27FC236}">
                <a16:creationId xmlns:a16="http://schemas.microsoft.com/office/drawing/2014/main" id="{F037B969-A477-6F4C-635B-4393A4BB69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0200" y="380127"/>
            <a:ext cx="1211315" cy="1211315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BF8D8C7-2E13-36E8-0879-9156F527BD11}"/>
              </a:ext>
            </a:extLst>
          </p:cNvPr>
          <p:cNvSpPr/>
          <p:nvPr/>
        </p:nvSpPr>
        <p:spPr>
          <a:xfrm>
            <a:off x="-2085524" y="-1011529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Świadomość bezpieczeństwa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14E6BADC-6E77-E693-7FEC-196A7D20CC76}"/>
              </a:ext>
            </a:extLst>
          </p:cNvPr>
          <p:cNvSpPr/>
          <p:nvPr/>
        </p:nvSpPr>
        <p:spPr>
          <a:xfrm>
            <a:off x="-2602596" y="5488213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RODO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1823310A-4E56-CC84-D26F-C18056599B2A}"/>
              </a:ext>
            </a:extLst>
          </p:cNvPr>
          <p:cNvSpPr/>
          <p:nvPr/>
        </p:nvSpPr>
        <p:spPr>
          <a:xfrm>
            <a:off x="-2487388" y="1533555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05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Bezpieczeństwo urządzeń</a:t>
            </a:r>
          </a:p>
        </p:txBody>
      </p:sp>
      <p:sp>
        <p:nvSpPr>
          <p:cNvPr id="11" name="Prostokąt: zaokrąglone rogi 10">
            <a:extLst>
              <a:ext uri="{FF2B5EF4-FFF2-40B4-BE49-F238E27FC236}">
                <a16:creationId xmlns:a16="http://schemas.microsoft.com/office/drawing/2014/main" id="{26FF54DB-219F-2F01-40D4-54AA9B04521F}"/>
              </a:ext>
            </a:extLst>
          </p:cNvPr>
          <p:cNvSpPr/>
          <p:nvPr/>
        </p:nvSpPr>
        <p:spPr>
          <a:xfrm>
            <a:off x="3497941" y="-1765295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Hasła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52A10A77-BEED-8FE0-2F17-994555F8BABE}"/>
              </a:ext>
            </a:extLst>
          </p:cNvPr>
          <p:cNvSpPr/>
          <p:nvPr/>
        </p:nvSpPr>
        <p:spPr>
          <a:xfrm>
            <a:off x="-252188" y="8763051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Bezpieczeństwo w miejscu pracy</a:t>
            </a:r>
          </a:p>
        </p:txBody>
      </p: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D590B2B5-740E-5CB1-4FF5-96230768281D}"/>
              </a:ext>
            </a:extLst>
          </p:cNvPr>
          <p:cNvSpPr/>
          <p:nvPr/>
        </p:nvSpPr>
        <p:spPr>
          <a:xfrm>
            <a:off x="5795899" y="-1782090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Prywatność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36AA2519-E897-226C-B9D3-E6523E06EAB1}"/>
              </a:ext>
            </a:extLst>
          </p:cNvPr>
          <p:cNvSpPr/>
          <p:nvPr/>
        </p:nvSpPr>
        <p:spPr>
          <a:xfrm>
            <a:off x="7607300" y="9571269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Malware</a:t>
            </a:r>
            <a:endParaRPr lang="pl-PL" sz="11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B14BB202-A933-B3D0-DF0A-716205676A43}"/>
              </a:ext>
            </a:extLst>
          </p:cNvPr>
          <p:cNvSpPr/>
          <p:nvPr/>
        </p:nvSpPr>
        <p:spPr>
          <a:xfrm>
            <a:off x="11190516" y="7861306"/>
            <a:ext cx="1369787" cy="1369787"/>
          </a:xfrm>
          <a:prstGeom prst="roundRect">
            <a:avLst/>
          </a:prstGeom>
          <a:solidFill>
            <a:srgbClr val="37807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20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Phishing</a:t>
            </a:r>
            <a:r>
              <a:rPr lang="pl-PL" sz="11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 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3D612032-875C-22AE-0F85-D0EBE2BADB27}"/>
              </a:ext>
            </a:extLst>
          </p:cNvPr>
          <p:cNvSpPr/>
          <p:nvPr/>
        </p:nvSpPr>
        <p:spPr>
          <a:xfrm>
            <a:off x="12641943" y="5844462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Bezpieczny </a:t>
            </a:r>
            <a:r>
              <a:rPr lang="pl-PL" sz="1400" b="1" dirty="0" err="1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internet</a:t>
            </a:r>
            <a:endParaRPr lang="pl-PL" sz="1400" b="1" dirty="0">
              <a:latin typeface="Red Hat Display" panose="02010303040201060303" pitchFamily="2" charset="0"/>
              <a:ea typeface="Red Hat Display" panose="02010303040201060303" pitchFamily="2" charset="0"/>
              <a:cs typeface="Red Hat Display" panose="02010303040201060303" pitchFamily="2" charset="0"/>
            </a:endParaRPr>
          </a:p>
        </p:txBody>
      </p: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6747FA9E-50F4-B7FC-7301-CE6DE36E6951}"/>
              </a:ext>
            </a:extLst>
          </p:cNvPr>
          <p:cNvSpPr/>
          <p:nvPr/>
        </p:nvSpPr>
        <p:spPr>
          <a:xfrm>
            <a:off x="12641943" y="2494376"/>
            <a:ext cx="1369787" cy="1369787"/>
          </a:xfrm>
          <a:prstGeom prst="roundRect">
            <a:avLst/>
          </a:prstGeom>
          <a:solidFill>
            <a:srgbClr val="F6B13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6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Inżynieria społeczna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BE99C55A-3B86-7F03-161E-3AB3D7F05CBE}"/>
              </a:ext>
            </a:extLst>
          </p:cNvPr>
          <p:cNvSpPr/>
          <p:nvPr/>
        </p:nvSpPr>
        <p:spPr>
          <a:xfrm>
            <a:off x="12199258" y="-1369787"/>
            <a:ext cx="1369787" cy="1369787"/>
          </a:xfrm>
          <a:prstGeom prst="roundRect">
            <a:avLst/>
          </a:prstGeom>
          <a:solidFill>
            <a:srgbClr val="EC6A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sz="1400" b="1" dirty="0">
                <a:latin typeface="Red Hat Display" panose="02010303040201060303" pitchFamily="2" charset="0"/>
                <a:ea typeface="Red Hat Display" panose="02010303040201060303" pitchFamily="2" charset="0"/>
                <a:cs typeface="Red Hat Display" panose="02010303040201060303" pitchFamily="2" charset="0"/>
              </a:rPr>
              <a:t>Praca zdalna</a:t>
            </a:r>
          </a:p>
        </p:txBody>
      </p:sp>
    </p:spTree>
    <p:extLst>
      <p:ext uri="{BB962C8B-B14F-4D97-AF65-F5344CB8AC3E}">
        <p14:creationId xmlns:p14="http://schemas.microsoft.com/office/powerpoint/2010/main" val="1777494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</TotalTime>
  <Words>593</Words>
  <Application>Microsoft Office PowerPoint</Application>
  <PresentationFormat>Panoramiczny</PresentationFormat>
  <Paragraphs>105</Paragraphs>
  <Slides>18</Slides>
  <Notes>1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18</vt:i4>
      </vt:variant>
    </vt:vector>
  </HeadingPairs>
  <TitlesOfParts>
    <vt:vector size="23" baseType="lpstr">
      <vt:lpstr>Red Hat Display</vt:lpstr>
      <vt:lpstr>Arial</vt:lpstr>
      <vt:lpstr>Aptos Display</vt:lpstr>
      <vt:lpstr>Aptos</vt:lpstr>
      <vt:lpstr>Motyw pakietu Office</vt:lpstr>
      <vt:lpstr>PhishAware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PhishAware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PhishAware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Michał Jasiński</dc:creator>
  <cp:lastModifiedBy>Michał Jasiński</cp:lastModifiedBy>
  <cp:revision>7</cp:revision>
  <dcterms:created xsi:type="dcterms:W3CDTF">2025-04-04T19:27:28Z</dcterms:created>
  <dcterms:modified xsi:type="dcterms:W3CDTF">2025-05-16T13:41:35Z</dcterms:modified>
</cp:coreProperties>
</file>