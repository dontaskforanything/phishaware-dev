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71" r:id="rId12"/>
    <p:sldId id="269" r:id="rId13"/>
  </p:sldIdLst>
  <p:sldSz cx="12192000" cy="6858000"/>
  <p:notesSz cx="6858000" cy="9144000"/>
  <p:embeddedFontLst>
    <p:embeddedFont>
      <p:font typeface="Red Hat Display" panose="02010303040201060303" pitchFamily="2" charset="0"/>
      <p:regular r:id="rId15"/>
      <p:bold r:id="rId16"/>
      <p:italic r:id="rId17"/>
      <p:boldItalic r:id="rId18"/>
    </p:embeddedFont>
  </p:embeddedFontLst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EE9"/>
    <a:srgbClr val="378075"/>
    <a:srgbClr val="F6B137"/>
    <a:srgbClr val="EC6A84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10" autoAdjust="0"/>
    <p:restoredTop sz="76949" autoAdjust="0"/>
  </p:normalViewPr>
  <p:slideViewPr>
    <p:cSldViewPr snapToGrid="0">
      <p:cViewPr varScale="1">
        <p:scale>
          <a:sx n="123" d="100"/>
          <a:sy n="123" d="100"/>
        </p:scale>
        <p:origin x="1866" y="102"/>
      </p:cViewPr>
      <p:guideLst/>
    </p:cSldViewPr>
  </p:slideViewPr>
  <p:notesTextViewPr>
    <p:cViewPr>
      <p:scale>
        <a:sx n="1" d="1"/>
        <a:sy n="1" d="1"/>
      </p:scale>
      <p:origin x="0" y="-912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DEA3B-3065-43EF-AA55-3E26DA58F3FA}" type="datetimeFigureOut">
              <a:rPr lang="pl-PL" smtClean="0"/>
              <a:t>18.05.2025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0DB598-70ED-4F7F-99D1-5A81AC9D7A5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36517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l-P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 samym 2024 roku firmy straciły ponad 12 miliardów dolarów przez </a:t>
            </a:r>
            <a:r>
              <a:rPr lang="pl-PL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cyberoszustów</a:t>
            </a:r>
            <a:r>
              <a:rPr lang="pl-P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l-P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l-P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Aż 83% firm padło ofiarą cyberprzestępstw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l-P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l-P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co najbardziej przerażające to to, że 95% tych incydentów to efekt błędu człowieka. Nie technologii, nie systemu – człowieka.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l-P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l-P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Szkolenia przecież są dostępne od wielu lat. Ale wszyscy wiemy, jak to wygląda – długie, nudne, teoretyczne.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l-P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l-P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Nikt ich nie pamięta, nikt nie mierzy ich skuteczności, a nawet jeśli coś się zapamięta, to szybko się to zapomina. A co najgorsze – nikt nie wie, kto się naprawdę nauczył, a kto tylko bezmyślnie klikał ‘dalej’.” To jest problem, który my rozwiązujemy. Tradycyjne szkolenia po prostu nie działają. Brakuje praktyki, personalizacji, zaangażowania. To jak uczyć się pływać z książki.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l-P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l-PL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PhishAware</a:t>
            </a:r>
            <a:r>
              <a:rPr lang="pl-P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działa inaczej. Uczymy krótko, praktycznie, z grywalizacją. Mamy mikro-lekcje trwające kilka minut, które nie tylko uczą, ale też sprawdzają wiedzę w realnych warunkach – bez ostrzeżenia.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l-P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„Sztuczna inteligencja pozwala nam personalizować naukę, a jednocześnie tworzyć symulacje, które są niemal nie do odróżnienia od realnych ataków.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l-P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nowoczesny system, który działa regularnie – krótkie porcje wiedzy raz w tygodniu, ale z długotrwałym efektem. Grywalizacja to nie bajer – to mechanizm, który realnie buduje zaangażowanie i utrwala pamięć.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l-P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l-PL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PhishAware</a:t>
            </a:r>
            <a:r>
              <a:rPr lang="pl-P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docelowo: zmniejsz ilość skutecznych ataków.</a:t>
            </a:r>
            <a:br>
              <a:rPr lang="pl-P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l-P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Zwiększa świadomość zagrożeń.</a:t>
            </a:r>
            <a:br>
              <a:rPr lang="pl-P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l-P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Polepsza, trwalsze przyswajanie wiedzy.</a:t>
            </a:r>
            <a:br>
              <a:rPr lang="pl-P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l-P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przygotowuje gotowe raporty dla audytorów lub działów </a:t>
            </a:r>
            <a:r>
              <a:rPr lang="pl-PL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compliance</a:t>
            </a:r>
            <a:r>
              <a:rPr lang="pl-P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l-P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l-P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To, co dziś jest najsłabszym ogniwem – człowiek – przekształcamy w pierwszą linię obrony. Zamiast ignorować problem, angażujemy pracowników jako aktywnych uczestników bezpieczeństwa.</a:t>
            </a:r>
            <a:br>
              <a:rPr lang="pl-P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l-P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Nazywam się Michał Jasiński i z przyjemnością zapraszam do mojego stanowiska – chętnie pokażę demo i odpowiem na wszystkie pytania.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l-PL" sz="1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DB598-70ED-4F7F-99D1-5A81AC9D7A5A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534004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W samym 2024 roku firmy straciły ponad 12 miliardów dolarów przez </a:t>
            </a:r>
            <a:r>
              <a:rPr lang="pl-PL" dirty="0" err="1"/>
              <a:t>cyberoszustów</a:t>
            </a:r>
            <a:r>
              <a:rPr lang="pl-PL" dirty="0"/>
              <a:t>. 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DB598-70ED-4F7F-99D1-5A81AC9D7A5A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790197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Aż 83% firm padło ofiarą cyberprzestępstw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DB598-70ED-4F7F-99D1-5A81AC9D7A5A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041893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A co najbardziej przerażające to to, że 95% tych incydentów to efekt błędu człowieka. Nie technologii, nie systemu – człowieka.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DB598-70ED-4F7F-99D1-5A81AC9D7A5A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811134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Szkolenia przecież są dostępne od wielu lat. Ale wszyscy wiemy, jak to wygląda – długie, nudne, teoretyczne. Nikt ich nie pamięta, nikt nie mierzy ich skuteczności, a nawet jeśli coś się zapamięta, to szybko się to zapomina. A co najgorsze – nikt nie wie, kto się naprawdę nauczył, a kto tylko bezmyślnie klikał ‘dalej’.”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DB598-70ED-4F7F-99D1-5A81AC9D7A5A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663415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To jest problem, który my rozwiązujemy. Tradycyjne szkolenia po prostu nie działają. Brakuje praktyki, personalizacji, zaangażowania. To jak uczyć się pływać z książki.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DB598-70ED-4F7F-99D1-5A81AC9D7A5A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232256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err="1"/>
              <a:t>PhishAware</a:t>
            </a:r>
            <a:r>
              <a:rPr lang="pl-PL" dirty="0"/>
              <a:t> działa inaczej. Uczymy krótko, praktycznie, z grywalizacją. Mamy mikro-lekcje trwające kilka minut, które nie tylko uczą, ale też sprawdzają wiedzę w realnych warunkach – bez ostrzeżenia.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DB598-70ED-4F7F-99D1-5A81AC9D7A5A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967501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To nowoczesny system, który działa regularnie – krótkie porcje wiedzy raz w tygodniu, ale z długotrwałym efektem. Grywalizacja to nie bajer – to mechanizm, który realnie buduje zaangażowanie i utrwala pamięć.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DB598-70ED-4F7F-99D1-5A81AC9D7A5A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006445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Docelowo: mniej skutecznych ataków.</a:t>
            </a:r>
            <a:br>
              <a:rPr lang="pl-PL" dirty="0"/>
            </a:br>
            <a:r>
              <a:rPr lang="pl-PL" dirty="0"/>
              <a:t>Większa świadomość zagrożeń.</a:t>
            </a:r>
            <a:br>
              <a:rPr lang="pl-PL" dirty="0"/>
            </a:br>
            <a:r>
              <a:rPr lang="pl-PL" dirty="0"/>
              <a:t>Lepsze, trwalsze przyswajanie wiedzy.</a:t>
            </a:r>
            <a:br>
              <a:rPr lang="pl-PL" dirty="0"/>
            </a:br>
            <a:r>
              <a:rPr lang="pl-PL" dirty="0"/>
              <a:t>I gotowe raporty dla audytorów lub działów </a:t>
            </a:r>
            <a:r>
              <a:rPr lang="pl-PL" dirty="0" err="1"/>
              <a:t>compliance</a:t>
            </a:r>
            <a:r>
              <a:rPr lang="pl-PL" dirty="0"/>
              <a:t>.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DB598-70ED-4F7F-99D1-5A81AC9D7A5A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751266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To, co dziś jest najsłabszym ogniwem – człowiek – przekształcamy w pierwszą linię obrony. Zamiast ignorować problem, angażujemy pracowników jako aktywnych uczestników bezpieczeństwa.</a:t>
            </a:r>
            <a:br>
              <a:rPr lang="pl-PL" dirty="0"/>
            </a:br>
            <a:r>
              <a:rPr lang="pl-PL" dirty="0"/>
              <a:t>Nazywam się Michał Jasiński i z przyjemnością zapraszam do mojego stanowiska – chętnie pokażę demo i odpowiem na wszystkie pytania.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DB598-70ED-4F7F-99D1-5A81AC9D7A5A}" type="slidenum">
              <a:rPr lang="pl-PL" smtClean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08762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5E2F743-B693-201D-E66A-640AFB6BAD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C66DA2B-9AA7-37AE-145C-4B54EE0067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1E8A15E-5034-E66F-CAA4-D7E686498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C3D0-5B72-4813-9427-E59E217E82A7}" type="datetimeFigureOut">
              <a:rPr lang="pl-PL" smtClean="0"/>
              <a:t>18.05.2025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A86A147-71A3-FAAC-6B82-81B525175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9E8AE43-F380-AFA6-95EB-AAFE2758A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FA263-2EF3-44E8-BA96-33E32B25D08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75173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F88E2D6-259C-A166-4B4A-00AFA0BEE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002A75B-0896-5502-DFF1-68E7ACA9A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3B46F5A-7E8C-2243-BC2F-1E46F82CD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C3D0-5B72-4813-9427-E59E217E82A7}" type="datetimeFigureOut">
              <a:rPr lang="pl-PL" smtClean="0"/>
              <a:t>18.05.2025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330D1E5-C99C-169E-4309-2D962F60F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247987A-4A6A-B01D-B810-499051D74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FA263-2EF3-44E8-BA96-33E32B25D08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65579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54F348F-7B7E-E2C1-C673-D2FBD43FF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EA8413B-2C90-E251-6BA1-5A7F225FC8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1BD0896-CE54-0E92-C3B4-83278115E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C3D0-5B72-4813-9427-E59E217E82A7}" type="datetimeFigureOut">
              <a:rPr lang="pl-PL" smtClean="0"/>
              <a:t>18.05.2025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40FB0BF-4E7A-0B5D-798A-3A6E8B3F7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3DF492B-70A3-ADEA-6052-AAF35368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FA263-2EF3-44E8-BA96-33E32B25D08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62462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E90C9F9-9B00-1346-1FB6-B6FC42630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7869EE2-6361-691E-7E4F-8B95CD979E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C1AB114-BF50-F9FE-A9DD-8B321DE94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BF06A5F-3B12-9C12-351B-F24EBF950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C3D0-5B72-4813-9427-E59E217E82A7}" type="datetimeFigureOut">
              <a:rPr lang="pl-PL" smtClean="0"/>
              <a:t>18.05.2025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1D06BE80-9459-2073-C6CD-4A440B68C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17CFB592-DDF3-ECCF-B8FD-C2A7FD96B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FA263-2EF3-44E8-BA96-33E32B25D08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12234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84CD8D9-97D3-554C-5945-1FF45630B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141EC82-18D8-DDB9-1D48-A0FBB2CC0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F5A1360B-D9F0-EBCC-2E20-3662C1F354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6E084AC7-8C2E-1C26-6207-112FF73ECB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06190BF2-F262-F213-6176-7906C123EB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D41417F4-BB28-5176-A26A-44177A484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C3D0-5B72-4813-9427-E59E217E82A7}" type="datetimeFigureOut">
              <a:rPr lang="pl-PL" smtClean="0"/>
              <a:t>18.05.2025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69E98D09-F748-2823-772D-9247B4A52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8F3C71F4-AFDD-89D0-F563-78ECC8D3E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FA263-2EF3-44E8-BA96-33E32B25D08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30313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25D478E-693B-27E7-7104-A17958748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86B6229E-2250-C8A1-C88B-F38635D84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C3D0-5B72-4813-9427-E59E217E82A7}" type="datetimeFigureOut">
              <a:rPr lang="pl-PL" smtClean="0"/>
              <a:t>18.05.2025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09A5324D-DD92-6B41-76A0-EC145117D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998F5A45-13F7-3EFE-91CA-25311F002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FA263-2EF3-44E8-BA96-33E32B25D08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9394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25B2E6B2-B217-DB4B-C558-32C7B1503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C3D0-5B72-4813-9427-E59E217E82A7}" type="datetimeFigureOut">
              <a:rPr lang="pl-PL" smtClean="0"/>
              <a:t>18.05.2025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4B0B87A3-9655-713B-FBED-93ECF3C36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D59FA84-1FB5-0595-DDB2-866851A56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FA263-2EF3-44E8-BA96-33E32B25D08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35009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A29C0EB-FB44-33B5-7D96-812C1E3F1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86E9F26-E44C-B1DD-46DB-D4AB7889C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22DAE40-FC33-2C44-80F9-E7DF010F72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45CEB62A-2964-0551-3753-740AFAD31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C3D0-5B72-4813-9427-E59E217E82A7}" type="datetimeFigureOut">
              <a:rPr lang="pl-PL" smtClean="0"/>
              <a:t>18.05.2025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4CB84B85-C22C-2E47-B4F9-3A86E17B3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E75CC3DF-2E25-5764-EACA-AA84E2E15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FA263-2EF3-44E8-BA96-33E32B25D08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99984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82CBBE0-5502-F0DA-3CBC-5C81C8C5B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9262697C-ED72-5942-3156-08F59ED196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63BF6D29-4688-FAE7-7222-65DD307B2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4BA34B7C-012D-D332-71A9-7EABF24BF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C3D0-5B72-4813-9427-E59E217E82A7}" type="datetimeFigureOut">
              <a:rPr lang="pl-PL" smtClean="0"/>
              <a:t>18.05.2025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135C1586-FE0A-F879-5F01-981FC5F7F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E7518046-380A-0ED9-44BC-09D9CD94D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FA263-2EF3-44E8-BA96-33E32B25D08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86918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A679409-2192-4A34-2689-ED52D1D66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91372E3C-2336-7FE4-A286-81A2CA933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CCF591E-179D-F1BE-F70A-0E024ABD9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C3D0-5B72-4813-9427-E59E217E82A7}" type="datetimeFigureOut">
              <a:rPr lang="pl-PL" smtClean="0"/>
              <a:t>18.05.2025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00987F8-FCBE-E0B6-3D06-2546B51AF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BBFB5EF-1FEB-3EC1-9175-30A7D951D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FA263-2EF3-44E8-BA96-33E32B25D08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70527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CB92F855-1101-D056-FEC9-A62B89DBD2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FDFB17A8-0BAE-7E33-3C92-757F221701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5F7D8E8-6E66-4A17-16FD-4933C58F6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C3D0-5B72-4813-9427-E59E217E82A7}" type="datetimeFigureOut">
              <a:rPr lang="pl-PL" smtClean="0"/>
              <a:t>18.05.2025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0AB5FBF-70B2-7D15-314E-FCD9CD8BF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EFB2683-084C-9BFC-1B1E-CD7FE651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FA263-2EF3-44E8-BA96-33E32B25D08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90486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E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69F49D51-59FF-D36D-A9D3-8E0E7A551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68D6A25-E306-DFDC-7394-0FDFF85422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DE04232-68C6-567A-061E-E6518E7BE0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70C3D0-5B72-4813-9427-E59E217E82A7}" type="datetimeFigureOut">
              <a:rPr lang="pl-PL" smtClean="0"/>
              <a:t>18.05.2025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048A745-F1E1-8944-6C9C-0C1A1DB82E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356D575-C38F-859E-F5E4-80CB3DB31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3FA263-2EF3-44E8-BA96-33E32B25D08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26242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93ABCCA-6679-FC1B-528B-972602C7BF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1515" y="2386657"/>
            <a:ext cx="5791200" cy="997672"/>
          </a:xfrm>
        </p:spPr>
        <p:txBody>
          <a:bodyPr>
            <a:noAutofit/>
          </a:bodyPr>
          <a:lstStyle/>
          <a:p>
            <a:r>
              <a:rPr lang="pl-PL" sz="8000" b="1" dirty="0" err="1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PhishAware</a:t>
            </a:r>
            <a:endParaRPr lang="pl-PL" sz="8000" b="1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95AEB0F-423E-7140-E45F-CA565C15A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1515" y="3365217"/>
            <a:ext cx="6477000" cy="473642"/>
          </a:xfrm>
        </p:spPr>
        <p:txBody>
          <a:bodyPr>
            <a:noAutofit/>
          </a:bodyPr>
          <a:lstStyle/>
          <a:p>
            <a:pPr algn="l"/>
            <a:r>
              <a:rPr lang="pl-PL" sz="2900" b="1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“</a:t>
            </a:r>
            <a:r>
              <a:rPr lang="pl-PL" sz="2900" b="1" dirty="0" err="1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Duolingo</a:t>
            </a:r>
            <a:r>
              <a:rPr lang="pl-PL" sz="2900" b="1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pl-PL" sz="2900" b="1" dirty="0" err="1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cyberbezpieczeństwa</a:t>
            </a:r>
            <a:r>
              <a:rPr lang="pl-PL" sz="2900" b="1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”</a:t>
            </a:r>
            <a:endParaRPr lang="pl-PL" sz="2900" b="1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51048B7E-2198-7A98-B8DA-35C4A5E39AE6}"/>
              </a:ext>
            </a:extLst>
          </p:cNvPr>
          <p:cNvSpPr/>
          <p:nvPr/>
        </p:nvSpPr>
        <p:spPr>
          <a:xfrm>
            <a:off x="1282700" y="5611019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9C6F50D7-B7E3-B864-A0BB-028D3AA4396A}"/>
              </a:ext>
            </a:extLst>
          </p:cNvPr>
          <p:cNvSpPr/>
          <p:nvPr/>
        </p:nvSpPr>
        <p:spPr>
          <a:xfrm>
            <a:off x="4584700" y="4410869"/>
            <a:ext cx="3022600" cy="5822950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grpSp>
        <p:nvGrpSpPr>
          <p:cNvPr id="17" name="Grupa 16">
            <a:extLst>
              <a:ext uri="{FF2B5EF4-FFF2-40B4-BE49-F238E27FC236}">
                <a16:creationId xmlns:a16="http://schemas.microsoft.com/office/drawing/2014/main" id="{978332CB-2640-5200-4411-EC1FB5439835}"/>
              </a:ext>
            </a:extLst>
          </p:cNvPr>
          <p:cNvGrpSpPr/>
          <p:nvPr/>
        </p:nvGrpSpPr>
        <p:grpSpPr>
          <a:xfrm>
            <a:off x="7937500" y="-3193328"/>
            <a:ext cx="3022600" cy="12599266"/>
            <a:chOff x="8509000" y="-3174278"/>
            <a:chExt cx="3022600" cy="12599266"/>
          </a:xfrm>
        </p:grpSpPr>
        <p:sp>
          <p:nvSpPr>
            <p:cNvPr id="6" name="Prostokąt: zaokrąglone rogi 5">
              <a:extLst>
                <a:ext uri="{FF2B5EF4-FFF2-40B4-BE49-F238E27FC236}">
                  <a16:creationId xmlns:a16="http://schemas.microsoft.com/office/drawing/2014/main" id="{84C7075E-9FA4-8A27-F713-125AADE90F75}"/>
                </a:ext>
              </a:extLst>
            </p:cNvPr>
            <p:cNvSpPr/>
            <p:nvPr/>
          </p:nvSpPr>
          <p:spPr>
            <a:xfrm>
              <a:off x="8509000" y="3602038"/>
              <a:ext cx="3022600" cy="5822950"/>
            </a:xfrm>
            <a:prstGeom prst="roundRect">
              <a:avLst/>
            </a:prstGeom>
            <a:solidFill>
              <a:srgbClr val="37807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Prostokąt: zaokrąglone rogi 7">
              <a:extLst>
                <a:ext uri="{FF2B5EF4-FFF2-40B4-BE49-F238E27FC236}">
                  <a16:creationId xmlns:a16="http://schemas.microsoft.com/office/drawing/2014/main" id="{351FC616-769B-AA47-9569-B20E16512B58}"/>
                </a:ext>
              </a:extLst>
            </p:cNvPr>
            <p:cNvSpPr/>
            <p:nvPr/>
          </p:nvSpPr>
          <p:spPr>
            <a:xfrm>
              <a:off x="8509000" y="-3174278"/>
              <a:ext cx="3022600" cy="5822950"/>
            </a:xfrm>
            <a:prstGeom prst="roundRect">
              <a:avLst/>
            </a:prstGeom>
            <a:solidFill>
              <a:srgbClr val="EC6A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14" name="Grafika 13">
            <a:extLst>
              <a:ext uri="{FF2B5EF4-FFF2-40B4-BE49-F238E27FC236}">
                <a16:creationId xmlns:a16="http://schemas.microsoft.com/office/drawing/2014/main" id="{18454A0D-0DCB-AD2F-62E4-9F3F2A2BB3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0200" y="380127"/>
            <a:ext cx="1211315" cy="1211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876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5BAB4-BC92-49C9-B269-4907D9260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8C0DD86D-47C5-CA89-A6A4-7EF863D4824E}"/>
              </a:ext>
            </a:extLst>
          </p:cNvPr>
          <p:cNvSpPr/>
          <p:nvPr/>
        </p:nvSpPr>
        <p:spPr>
          <a:xfrm>
            <a:off x="1282700" y="-4957212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BB466870-CC19-169A-C340-DCF74E40A496}"/>
              </a:ext>
            </a:extLst>
          </p:cNvPr>
          <p:cNvSpPr/>
          <p:nvPr/>
        </p:nvSpPr>
        <p:spPr>
          <a:xfrm>
            <a:off x="4584700" y="-4178490"/>
            <a:ext cx="3022600" cy="5822950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5" name="Tytuł 1">
            <a:extLst>
              <a:ext uri="{FF2B5EF4-FFF2-40B4-BE49-F238E27FC236}">
                <a16:creationId xmlns:a16="http://schemas.microsoft.com/office/drawing/2014/main" id="{22BAB441-D556-F101-C8B3-A6635F24A1EA}"/>
              </a:ext>
            </a:extLst>
          </p:cNvPr>
          <p:cNvSpPr txBox="1">
            <a:spLocks/>
          </p:cNvSpPr>
          <p:nvPr/>
        </p:nvSpPr>
        <p:spPr>
          <a:xfrm>
            <a:off x="0" y="1992673"/>
            <a:ext cx="12192000" cy="16557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88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12  500 000 000$</a:t>
            </a:r>
          </a:p>
        </p:txBody>
      </p:sp>
      <p:sp>
        <p:nvSpPr>
          <p:cNvPr id="16" name="Tytuł 1">
            <a:extLst>
              <a:ext uri="{FF2B5EF4-FFF2-40B4-BE49-F238E27FC236}">
                <a16:creationId xmlns:a16="http://schemas.microsoft.com/office/drawing/2014/main" id="{50CE875F-D464-6FF2-412E-F078E796BE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12192000" cy="1655763"/>
          </a:xfrm>
        </p:spPr>
        <p:txBody>
          <a:bodyPr>
            <a:noAutofit/>
          </a:bodyPr>
          <a:lstStyle/>
          <a:p>
            <a:r>
              <a:rPr lang="pl-PL" sz="40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straconych z powodu </a:t>
            </a:r>
          </a:p>
          <a:p>
            <a:r>
              <a:rPr lang="pl-PL" sz="4000" b="1" dirty="0" err="1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cyberoszustów</a:t>
            </a:r>
            <a:r>
              <a:rPr lang="pl-PL" sz="40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tylko w 2024</a:t>
            </a:r>
          </a:p>
        </p:txBody>
      </p:sp>
      <p:grpSp>
        <p:nvGrpSpPr>
          <p:cNvPr id="19" name="Grupa 18">
            <a:extLst>
              <a:ext uri="{FF2B5EF4-FFF2-40B4-BE49-F238E27FC236}">
                <a16:creationId xmlns:a16="http://schemas.microsoft.com/office/drawing/2014/main" id="{44211DF8-81C3-4DA9-B202-FDCF718DF4DC}"/>
              </a:ext>
            </a:extLst>
          </p:cNvPr>
          <p:cNvGrpSpPr/>
          <p:nvPr/>
        </p:nvGrpSpPr>
        <p:grpSpPr>
          <a:xfrm>
            <a:off x="7937500" y="5215731"/>
            <a:ext cx="3022600" cy="12599266"/>
            <a:chOff x="8509000" y="-3174278"/>
            <a:chExt cx="3022600" cy="12599266"/>
          </a:xfrm>
        </p:grpSpPr>
        <p:sp>
          <p:nvSpPr>
            <p:cNvPr id="20" name="Prostokąt: zaokrąglone rogi 19">
              <a:extLst>
                <a:ext uri="{FF2B5EF4-FFF2-40B4-BE49-F238E27FC236}">
                  <a16:creationId xmlns:a16="http://schemas.microsoft.com/office/drawing/2014/main" id="{6E467DA4-2FD7-73D1-27D7-4C43F099A802}"/>
                </a:ext>
              </a:extLst>
            </p:cNvPr>
            <p:cNvSpPr/>
            <p:nvPr/>
          </p:nvSpPr>
          <p:spPr>
            <a:xfrm>
              <a:off x="8509000" y="3602038"/>
              <a:ext cx="3022600" cy="5822950"/>
            </a:xfrm>
            <a:prstGeom prst="roundRect">
              <a:avLst/>
            </a:prstGeom>
            <a:solidFill>
              <a:srgbClr val="37807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Prostokąt: zaokrąglone rogi 20">
              <a:extLst>
                <a:ext uri="{FF2B5EF4-FFF2-40B4-BE49-F238E27FC236}">
                  <a16:creationId xmlns:a16="http://schemas.microsoft.com/office/drawing/2014/main" id="{391E1B16-F671-5A0A-C9AC-1F31B9028097}"/>
                </a:ext>
              </a:extLst>
            </p:cNvPr>
            <p:cNvSpPr/>
            <p:nvPr/>
          </p:nvSpPr>
          <p:spPr>
            <a:xfrm>
              <a:off x="8509000" y="-3174278"/>
              <a:ext cx="3022600" cy="5822950"/>
            </a:xfrm>
            <a:prstGeom prst="roundRect">
              <a:avLst/>
            </a:prstGeom>
            <a:solidFill>
              <a:srgbClr val="EC6A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2" name="pole tekstowe 31">
            <a:extLst>
              <a:ext uri="{FF2B5EF4-FFF2-40B4-BE49-F238E27FC236}">
                <a16:creationId xmlns:a16="http://schemas.microsoft.com/office/drawing/2014/main" id="{A422BD2C-5AD8-B652-7BF8-C288025F1CEB}"/>
              </a:ext>
            </a:extLst>
          </p:cNvPr>
          <p:cNvSpPr txBox="1"/>
          <p:nvPr/>
        </p:nvSpPr>
        <p:spPr>
          <a:xfrm>
            <a:off x="0" y="6704112"/>
            <a:ext cx="5013960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" b="0" i="0" dirty="0">
                <a:solidFill>
                  <a:srgbClr val="2E414F"/>
                </a:solidFill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Zaid, T., &amp; Garai, S. (2024). Emerging Trends in Cybersecurity: A Holistic View on Current Threats, Assessing Solutions, and Pioneering New Frontiers. Blockchain in Healthcare Today, 7.</a:t>
            </a:r>
            <a:endParaRPr lang="pl-PL" sz="400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5628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408BF-5FB0-D1B0-64D9-7843583B3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ytuł 1">
            <a:extLst>
              <a:ext uri="{FF2B5EF4-FFF2-40B4-BE49-F238E27FC236}">
                <a16:creationId xmlns:a16="http://schemas.microsoft.com/office/drawing/2014/main" id="{F8E014D0-91D3-7CB8-059B-165E99B37221}"/>
              </a:ext>
            </a:extLst>
          </p:cNvPr>
          <p:cNvSpPr txBox="1">
            <a:spLocks/>
          </p:cNvSpPr>
          <p:nvPr/>
        </p:nvSpPr>
        <p:spPr>
          <a:xfrm>
            <a:off x="0" y="1992673"/>
            <a:ext cx="12192000" cy="16557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96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83%</a:t>
            </a:r>
          </a:p>
        </p:txBody>
      </p:sp>
      <p:sp>
        <p:nvSpPr>
          <p:cNvPr id="16" name="Tytuł 1">
            <a:extLst>
              <a:ext uri="{FF2B5EF4-FFF2-40B4-BE49-F238E27FC236}">
                <a16:creationId xmlns:a16="http://schemas.microsoft.com/office/drawing/2014/main" id="{73E809D9-8B09-1368-7D25-C5FEC6613D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655763"/>
          </a:xfrm>
        </p:spPr>
        <p:txBody>
          <a:bodyPr>
            <a:noAutofit/>
          </a:bodyPr>
          <a:lstStyle/>
          <a:p>
            <a:r>
              <a:rPr lang="pl-PL" sz="40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firm padło ofiarą</a:t>
            </a:r>
          </a:p>
          <a:p>
            <a:r>
              <a:rPr lang="pl-PL" sz="40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cyberprzestępstw</a:t>
            </a:r>
          </a:p>
        </p:txBody>
      </p:sp>
      <p:sp>
        <p:nvSpPr>
          <p:cNvPr id="2" name="Prostokąt: zaokrąglone rogi 1">
            <a:extLst>
              <a:ext uri="{FF2B5EF4-FFF2-40B4-BE49-F238E27FC236}">
                <a16:creationId xmlns:a16="http://schemas.microsoft.com/office/drawing/2014/main" id="{A355FB49-66DC-0030-9D45-8240DF64DD1F}"/>
              </a:ext>
            </a:extLst>
          </p:cNvPr>
          <p:cNvSpPr/>
          <p:nvPr/>
        </p:nvSpPr>
        <p:spPr>
          <a:xfrm>
            <a:off x="1282700" y="-4957212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43FC86CD-65B2-F23B-7FCF-E15BFA8CC3D7}"/>
              </a:ext>
            </a:extLst>
          </p:cNvPr>
          <p:cNvSpPr/>
          <p:nvPr/>
        </p:nvSpPr>
        <p:spPr>
          <a:xfrm>
            <a:off x="4584700" y="-4178490"/>
            <a:ext cx="3022600" cy="5822950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grpSp>
        <p:nvGrpSpPr>
          <p:cNvPr id="6" name="Grupa 5">
            <a:extLst>
              <a:ext uri="{FF2B5EF4-FFF2-40B4-BE49-F238E27FC236}">
                <a16:creationId xmlns:a16="http://schemas.microsoft.com/office/drawing/2014/main" id="{ED91152D-7E51-6386-4C49-B528BE15FD44}"/>
              </a:ext>
            </a:extLst>
          </p:cNvPr>
          <p:cNvGrpSpPr/>
          <p:nvPr/>
        </p:nvGrpSpPr>
        <p:grpSpPr>
          <a:xfrm>
            <a:off x="7937500" y="5215731"/>
            <a:ext cx="3022600" cy="12599266"/>
            <a:chOff x="8509000" y="-3174278"/>
            <a:chExt cx="3022600" cy="12599266"/>
          </a:xfrm>
        </p:grpSpPr>
        <p:sp>
          <p:nvSpPr>
            <p:cNvPr id="7" name="Prostokąt: zaokrąglone rogi 6">
              <a:extLst>
                <a:ext uri="{FF2B5EF4-FFF2-40B4-BE49-F238E27FC236}">
                  <a16:creationId xmlns:a16="http://schemas.microsoft.com/office/drawing/2014/main" id="{7B64FCCB-A9E1-B861-C639-EE0207F24F9D}"/>
                </a:ext>
              </a:extLst>
            </p:cNvPr>
            <p:cNvSpPr/>
            <p:nvPr/>
          </p:nvSpPr>
          <p:spPr>
            <a:xfrm>
              <a:off x="8509000" y="3602038"/>
              <a:ext cx="3022600" cy="5822950"/>
            </a:xfrm>
            <a:prstGeom prst="roundRect">
              <a:avLst/>
            </a:prstGeom>
            <a:solidFill>
              <a:srgbClr val="37807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Prostokąt: zaokrąglone rogi 7">
              <a:extLst>
                <a:ext uri="{FF2B5EF4-FFF2-40B4-BE49-F238E27FC236}">
                  <a16:creationId xmlns:a16="http://schemas.microsoft.com/office/drawing/2014/main" id="{4A2C320F-2B10-E622-B246-58BC798185FE}"/>
                </a:ext>
              </a:extLst>
            </p:cNvPr>
            <p:cNvSpPr/>
            <p:nvPr/>
          </p:nvSpPr>
          <p:spPr>
            <a:xfrm>
              <a:off x="8509000" y="-3174278"/>
              <a:ext cx="3022600" cy="5822950"/>
            </a:xfrm>
            <a:prstGeom prst="roundRect">
              <a:avLst/>
            </a:prstGeom>
            <a:solidFill>
              <a:srgbClr val="EC6A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8CD60186-F53C-1179-D9A8-92A94B46B921}"/>
              </a:ext>
            </a:extLst>
          </p:cNvPr>
          <p:cNvSpPr txBox="1"/>
          <p:nvPr/>
        </p:nvSpPr>
        <p:spPr>
          <a:xfrm>
            <a:off x="0" y="6704112"/>
            <a:ext cx="5013960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" b="0" i="0" dirty="0">
                <a:solidFill>
                  <a:srgbClr val="2E414F"/>
                </a:solidFill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Khan, S., Kabanov, I., Hua, Y., &amp; Madnick, S.E. (2022). A Systematic Analysis of the Capital One Data Breach: Critical Lessons Learned. </a:t>
            </a:r>
            <a:r>
              <a:rPr lang="en-US" sz="400" b="0" i="1" dirty="0">
                <a:solidFill>
                  <a:srgbClr val="2E414F"/>
                </a:solidFill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ACM Transactions on Privacy and Security, 26</a:t>
            </a:r>
            <a:r>
              <a:rPr lang="en-US" sz="400" b="0" i="0" dirty="0">
                <a:solidFill>
                  <a:srgbClr val="2E414F"/>
                </a:solidFill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, 1 - 29.</a:t>
            </a:r>
            <a:endParaRPr lang="pl-PL" sz="400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6523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C9B67-40FC-09A6-87E5-DB4A460F4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ytuł 1">
            <a:extLst>
              <a:ext uri="{FF2B5EF4-FFF2-40B4-BE49-F238E27FC236}">
                <a16:creationId xmlns:a16="http://schemas.microsoft.com/office/drawing/2014/main" id="{7B6EBEB9-5426-B1F0-8A30-2C6072B79704}"/>
              </a:ext>
            </a:extLst>
          </p:cNvPr>
          <p:cNvSpPr txBox="1">
            <a:spLocks/>
          </p:cNvSpPr>
          <p:nvPr/>
        </p:nvSpPr>
        <p:spPr>
          <a:xfrm>
            <a:off x="0" y="1992673"/>
            <a:ext cx="12192000" cy="16557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96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95%</a:t>
            </a:r>
          </a:p>
        </p:txBody>
      </p:sp>
      <p:sp>
        <p:nvSpPr>
          <p:cNvPr id="16" name="Tytuł 1">
            <a:extLst>
              <a:ext uri="{FF2B5EF4-FFF2-40B4-BE49-F238E27FC236}">
                <a16:creationId xmlns:a16="http://schemas.microsoft.com/office/drawing/2014/main" id="{A5D31686-38F6-3AFF-71E6-88ACB8579E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12192000" cy="1655763"/>
          </a:xfrm>
        </p:spPr>
        <p:txBody>
          <a:bodyPr>
            <a:noAutofit/>
          </a:bodyPr>
          <a:lstStyle/>
          <a:p>
            <a:r>
              <a:rPr lang="pl-PL" sz="40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naruszeń jest spowodowanych</a:t>
            </a:r>
          </a:p>
          <a:p>
            <a:r>
              <a:rPr lang="pl-PL" sz="40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przede wszystkim błędem ludzkim</a:t>
            </a:r>
          </a:p>
        </p:txBody>
      </p:sp>
      <p:sp>
        <p:nvSpPr>
          <p:cNvPr id="2" name="Prostokąt: zaokrąglone rogi 1">
            <a:extLst>
              <a:ext uri="{FF2B5EF4-FFF2-40B4-BE49-F238E27FC236}">
                <a16:creationId xmlns:a16="http://schemas.microsoft.com/office/drawing/2014/main" id="{A2D527A6-C4C6-85CE-6C3F-846831553FA9}"/>
              </a:ext>
            </a:extLst>
          </p:cNvPr>
          <p:cNvSpPr/>
          <p:nvPr/>
        </p:nvSpPr>
        <p:spPr>
          <a:xfrm>
            <a:off x="1282700" y="-4957212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29A59025-F92E-F286-FBF6-92C9C38436FC}"/>
              </a:ext>
            </a:extLst>
          </p:cNvPr>
          <p:cNvSpPr/>
          <p:nvPr/>
        </p:nvSpPr>
        <p:spPr>
          <a:xfrm>
            <a:off x="4584700" y="-4178490"/>
            <a:ext cx="3022600" cy="5822950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grpSp>
        <p:nvGrpSpPr>
          <p:cNvPr id="6" name="Grupa 5">
            <a:extLst>
              <a:ext uri="{FF2B5EF4-FFF2-40B4-BE49-F238E27FC236}">
                <a16:creationId xmlns:a16="http://schemas.microsoft.com/office/drawing/2014/main" id="{B5020330-EE2E-9A83-1089-AF12C209327F}"/>
              </a:ext>
            </a:extLst>
          </p:cNvPr>
          <p:cNvGrpSpPr/>
          <p:nvPr/>
        </p:nvGrpSpPr>
        <p:grpSpPr>
          <a:xfrm>
            <a:off x="7937500" y="5215731"/>
            <a:ext cx="3022600" cy="12599266"/>
            <a:chOff x="8509000" y="-3174278"/>
            <a:chExt cx="3022600" cy="12599266"/>
          </a:xfrm>
        </p:grpSpPr>
        <p:sp>
          <p:nvSpPr>
            <p:cNvPr id="7" name="Prostokąt: zaokrąglone rogi 6">
              <a:extLst>
                <a:ext uri="{FF2B5EF4-FFF2-40B4-BE49-F238E27FC236}">
                  <a16:creationId xmlns:a16="http://schemas.microsoft.com/office/drawing/2014/main" id="{B14FECC2-0F28-0E75-A737-1D1B2D7B72AD}"/>
                </a:ext>
              </a:extLst>
            </p:cNvPr>
            <p:cNvSpPr/>
            <p:nvPr/>
          </p:nvSpPr>
          <p:spPr>
            <a:xfrm>
              <a:off x="8509000" y="3602038"/>
              <a:ext cx="3022600" cy="5822950"/>
            </a:xfrm>
            <a:prstGeom prst="roundRect">
              <a:avLst/>
            </a:prstGeom>
            <a:solidFill>
              <a:srgbClr val="37807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Prostokąt: zaokrąglone rogi 7">
              <a:extLst>
                <a:ext uri="{FF2B5EF4-FFF2-40B4-BE49-F238E27FC236}">
                  <a16:creationId xmlns:a16="http://schemas.microsoft.com/office/drawing/2014/main" id="{38885AE0-A46F-4C0E-E05F-939FEF274560}"/>
                </a:ext>
              </a:extLst>
            </p:cNvPr>
            <p:cNvSpPr/>
            <p:nvPr/>
          </p:nvSpPr>
          <p:spPr>
            <a:xfrm>
              <a:off x="8509000" y="-3174278"/>
              <a:ext cx="3022600" cy="5822950"/>
            </a:xfrm>
            <a:prstGeom prst="roundRect">
              <a:avLst/>
            </a:prstGeom>
            <a:solidFill>
              <a:srgbClr val="EC6A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9" name="pole tekstowe 8">
            <a:extLst>
              <a:ext uri="{FF2B5EF4-FFF2-40B4-BE49-F238E27FC236}">
                <a16:creationId xmlns:a16="http://schemas.microsoft.com/office/drawing/2014/main" id="{69F313F8-5CFF-5134-C598-FB56DAF69F95}"/>
              </a:ext>
            </a:extLst>
          </p:cNvPr>
          <p:cNvSpPr txBox="1"/>
          <p:nvPr/>
        </p:nvSpPr>
        <p:spPr>
          <a:xfrm>
            <a:off x="0" y="6704112"/>
            <a:ext cx="5013960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" b="0" i="0" dirty="0">
                <a:solidFill>
                  <a:srgbClr val="2E414F"/>
                </a:solidFill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Alsharif, M., Mishra, S., &amp; Alshehri, M. (2022). Impact of Human Vulnerabilities on Cybersecurity. </a:t>
            </a:r>
            <a:r>
              <a:rPr lang="en-US" sz="400" b="0" i="0" dirty="0" err="1">
                <a:solidFill>
                  <a:srgbClr val="2E414F"/>
                </a:solidFill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Comput</a:t>
            </a:r>
            <a:r>
              <a:rPr lang="en-US" sz="400" b="0" i="0" dirty="0">
                <a:solidFill>
                  <a:srgbClr val="2E414F"/>
                </a:solidFill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. Syst. Sci. Eng., 40, 1153-1166.</a:t>
            </a:r>
            <a:endParaRPr lang="pl-PL" sz="400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00133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63AC3-0C42-8755-3A5C-6E09E6B79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ytuł 1">
            <a:extLst>
              <a:ext uri="{FF2B5EF4-FFF2-40B4-BE49-F238E27FC236}">
                <a16:creationId xmlns:a16="http://schemas.microsoft.com/office/drawing/2014/main" id="{962B54C5-1310-1E8E-0245-CE6F49DCC0B3}"/>
              </a:ext>
            </a:extLst>
          </p:cNvPr>
          <p:cNvSpPr txBox="1">
            <a:spLocks/>
          </p:cNvSpPr>
          <p:nvPr/>
        </p:nvSpPr>
        <p:spPr>
          <a:xfrm>
            <a:off x="0" y="1992673"/>
            <a:ext cx="12192000" cy="16557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96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Ale dlaczego?</a:t>
            </a:r>
          </a:p>
        </p:txBody>
      </p:sp>
      <p:sp>
        <p:nvSpPr>
          <p:cNvPr id="16" name="Tytuł 1">
            <a:extLst>
              <a:ext uri="{FF2B5EF4-FFF2-40B4-BE49-F238E27FC236}">
                <a16:creationId xmlns:a16="http://schemas.microsoft.com/office/drawing/2014/main" id="{33F4CA6E-2FB6-5EC1-B858-8592F21C4E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12192000" cy="1655763"/>
          </a:xfrm>
        </p:spPr>
        <p:txBody>
          <a:bodyPr>
            <a:noAutofit/>
          </a:bodyPr>
          <a:lstStyle/>
          <a:p>
            <a:r>
              <a:rPr lang="pl-PL" sz="40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Przecież szkolimy…</a:t>
            </a:r>
          </a:p>
        </p:txBody>
      </p:sp>
      <p:sp>
        <p:nvSpPr>
          <p:cNvPr id="2" name="Prostokąt: zaokrąglone rogi 1">
            <a:extLst>
              <a:ext uri="{FF2B5EF4-FFF2-40B4-BE49-F238E27FC236}">
                <a16:creationId xmlns:a16="http://schemas.microsoft.com/office/drawing/2014/main" id="{34D5B9FC-BF0E-F546-6D1E-0FBF89B6156F}"/>
              </a:ext>
            </a:extLst>
          </p:cNvPr>
          <p:cNvSpPr/>
          <p:nvPr/>
        </p:nvSpPr>
        <p:spPr>
          <a:xfrm>
            <a:off x="1282700" y="-4957212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A9B286B0-862D-77A1-FB4F-3F4112A731D7}"/>
              </a:ext>
            </a:extLst>
          </p:cNvPr>
          <p:cNvSpPr/>
          <p:nvPr/>
        </p:nvSpPr>
        <p:spPr>
          <a:xfrm>
            <a:off x="4584700" y="-4178490"/>
            <a:ext cx="3022600" cy="5822950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grpSp>
        <p:nvGrpSpPr>
          <p:cNvPr id="6" name="Grupa 5">
            <a:extLst>
              <a:ext uri="{FF2B5EF4-FFF2-40B4-BE49-F238E27FC236}">
                <a16:creationId xmlns:a16="http://schemas.microsoft.com/office/drawing/2014/main" id="{6CAD114A-3E6C-6345-D4BB-2D6DAE901CB8}"/>
              </a:ext>
            </a:extLst>
          </p:cNvPr>
          <p:cNvGrpSpPr/>
          <p:nvPr/>
        </p:nvGrpSpPr>
        <p:grpSpPr>
          <a:xfrm>
            <a:off x="7937500" y="5215731"/>
            <a:ext cx="3022600" cy="12599266"/>
            <a:chOff x="8509000" y="-3174278"/>
            <a:chExt cx="3022600" cy="12599266"/>
          </a:xfrm>
        </p:grpSpPr>
        <p:sp>
          <p:nvSpPr>
            <p:cNvPr id="7" name="Prostokąt: zaokrąglone rogi 6">
              <a:extLst>
                <a:ext uri="{FF2B5EF4-FFF2-40B4-BE49-F238E27FC236}">
                  <a16:creationId xmlns:a16="http://schemas.microsoft.com/office/drawing/2014/main" id="{15B69C38-C742-84BA-BD96-2D4F6311272B}"/>
                </a:ext>
              </a:extLst>
            </p:cNvPr>
            <p:cNvSpPr/>
            <p:nvPr/>
          </p:nvSpPr>
          <p:spPr>
            <a:xfrm>
              <a:off x="8509000" y="3602038"/>
              <a:ext cx="3022600" cy="5822950"/>
            </a:xfrm>
            <a:prstGeom prst="roundRect">
              <a:avLst/>
            </a:prstGeom>
            <a:solidFill>
              <a:srgbClr val="37807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Prostokąt: zaokrąglone rogi 7">
              <a:extLst>
                <a:ext uri="{FF2B5EF4-FFF2-40B4-BE49-F238E27FC236}">
                  <a16:creationId xmlns:a16="http://schemas.microsoft.com/office/drawing/2014/main" id="{75505D09-8BB1-0B90-4F71-5B3C2BB6F94A}"/>
                </a:ext>
              </a:extLst>
            </p:cNvPr>
            <p:cNvSpPr/>
            <p:nvPr/>
          </p:nvSpPr>
          <p:spPr>
            <a:xfrm>
              <a:off x="8509000" y="-3174278"/>
              <a:ext cx="3022600" cy="5822950"/>
            </a:xfrm>
            <a:prstGeom prst="roundRect">
              <a:avLst/>
            </a:prstGeom>
            <a:solidFill>
              <a:srgbClr val="EC6A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63623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68B76-4C81-DB00-8878-DD816F799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ytuł 1">
            <a:extLst>
              <a:ext uri="{FF2B5EF4-FFF2-40B4-BE49-F238E27FC236}">
                <a16:creationId xmlns:a16="http://schemas.microsoft.com/office/drawing/2014/main" id="{E2AA87FA-DD89-7087-3252-DFEFFDB286E3}"/>
              </a:ext>
            </a:extLst>
          </p:cNvPr>
          <p:cNvSpPr txBox="1">
            <a:spLocks/>
          </p:cNvSpPr>
          <p:nvPr/>
        </p:nvSpPr>
        <p:spPr>
          <a:xfrm>
            <a:off x="11290300" y="4757666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000" b="1" dirty="0">
                <a:solidFill>
                  <a:srgbClr val="FDFEE9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brak personalizacji </a:t>
            </a:r>
          </a:p>
        </p:txBody>
      </p:sp>
      <p:sp>
        <p:nvSpPr>
          <p:cNvPr id="18" name="Tytuł 1">
            <a:extLst>
              <a:ext uri="{FF2B5EF4-FFF2-40B4-BE49-F238E27FC236}">
                <a16:creationId xmlns:a16="http://schemas.microsoft.com/office/drawing/2014/main" id="{3BDB940F-1A37-772C-63C5-BF3BFCF8062C}"/>
              </a:ext>
            </a:extLst>
          </p:cNvPr>
          <p:cNvSpPr txBox="1">
            <a:spLocks/>
          </p:cNvSpPr>
          <p:nvPr/>
        </p:nvSpPr>
        <p:spPr>
          <a:xfrm>
            <a:off x="1520825" y="-1141846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000" b="1" dirty="0">
                <a:solidFill>
                  <a:srgbClr val="FDFEE9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nudne kursy bez efektów</a:t>
            </a:r>
          </a:p>
        </p:txBody>
      </p:sp>
      <p:sp>
        <p:nvSpPr>
          <p:cNvPr id="22" name="Tytuł 1">
            <a:extLst>
              <a:ext uri="{FF2B5EF4-FFF2-40B4-BE49-F238E27FC236}">
                <a16:creationId xmlns:a16="http://schemas.microsoft.com/office/drawing/2014/main" id="{41CFA4E0-FA96-3CC1-9474-C317F16666AB}"/>
              </a:ext>
            </a:extLst>
          </p:cNvPr>
          <p:cNvSpPr txBox="1">
            <a:spLocks/>
          </p:cNvSpPr>
          <p:nvPr/>
        </p:nvSpPr>
        <p:spPr>
          <a:xfrm>
            <a:off x="9763125" y="-903541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000" b="1" dirty="0">
                <a:solidFill>
                  <a:srgbClr val="FDFEE9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za dużo teorii, za mało praktyki</a:t>
            </a:r>
          </a:p>
        </p:txBody>
      </p:sp>
      <p:sp>
        <p:nvSpPr>
          <p:cNvPr id="23" name="Tytuł 1">
            <a:extLst>
              <a:ext uri="{FF2B5EF4-FFF2-40B4-BE49-F238E27FC236}">
                <a16:creationId xmlns:a16="http://schemas.microsoft.com/office/drawing/2014/main" id="{46C29D1B-A3A4-70C7-66AB-04C70BE01724}"/>
              </a:ext>
            </a:extLst>
          </p:cNvPr>
          <p:cNvSpPr txBox="1">
            <a:spLocks/>
          </p:cNvSpPr>
          <p:nvPr/>
        </p:nvSpPr>
        <p:spPr>
          <a:xfrm>
            <a:off x="-6962775" y="241119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000" b="1" dirty="0">
                <a:solidFill>
                  <a:srgbClr val="FDFEE9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niewystarczające testowanie wiedzy</a:t>
            </a:r>
          </a:p>
        </p:txBody>
      </p:sp>
      <p:sp>
        <p:nvSpPr>
          <p:cNvPr id="24" name="Tytuł 1">
            <a:extLst>
              <a:ext uri="{FF2B5EF4-FFF2-40B4-BE49-F238E27FC236}">
                <a16:creationId xmlns:a16="http://schemas.microsoft.com/office/drawing/2014/main" id="{AEF796AB-2B7E-D274-A035-48778734038C}"/>
              </a:ext>
            </a:extLst>
          </p:cNvPr>
          <p:cNvSpPr txBox="1">
            <a:spLocks/>
          </p:cNvSpPr>
          <p:nvPr/>
        </p:nvSpPr>
        <p:spPr>
          <a:xfrm>
            <a:off x="11901487" y="2222855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400" b="1" dirty="0">
                <a:solidFill>
                  <a:srgbClr val="FDFEE9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brak zaangażowania pracowników</a:t>
            </a:r>
          </a:p>
        </p:txBody>
      </p:sp>
      <p:sp>
        <p:nvSpPr>
          <p:cNvPr id="25" name="Tytuł 1">
            <a:extLst>
              <a:ext uri="{FF2B5EF4-FFF2-40B4-BE49-F238E27FC236}">
                <a16:creationId xmlns:a16="http://schemas.microsoft.com/office/drawing/2014/main" id="{D6F553EE-B5E9-36EC-8627-06FB425A627E}"/>
              </a:ext>
            </a:extLst>
          </p:cNvPr>
          <p:cNvSpPr txBox="1">
            <a:spLocks/>
          </p:cNvSpPr>
          <p:nvPr/>
        </p:nvSpPr>
        <p:spPr>
          <a:xfrm>
            <a:off x="-6048375" y="4405132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400" b="1" dirty="0">
                <a:solidFill>
                  <a:srgbClr val="FDFEE9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nie wiesz, kto się uczy, a kto nie</a:t>
            </a:r>
          </a:p>
        </p:txBody>
      </p:sp>
      <p:sp>
        <p:nvSpPr>
          <p:cNvPr id="26" name="Tytuł 1">
            <a:extLst>
              <a:ext uri="{FF2B5EF4-FFF2-40B4-BE49-F238E27FC236}">
                <a16:creationId xmlns:a16="http://schemas.microsoft.com/office/drawing/2014/main" id="{20F6F7EA-CCBF-29C4-357E-271D9C57CAEF}"/>
              </a:ext>
            </a:extLst>
          </p:cNvPr>
          <p:cNvSpPr txBox="1">
            <a:spLocks/>
          </p:cNvSpPr>
          <p:nvPr/>
        </p:nvSpPr>
        <p:spPr>
          <a:xfrm>
            <a:off x="8412956" y="7231791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000" b="1" dirty="0">
                <a:solidFill>
                  <a:srgbClr val="FDFEE9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brak mierzenia skuteczności szkolenia</a:t>
            </a:r>
          </a:p>
        </p:txBody>
      </p:sp>
      <p:sp>
        <p:nvSpPr>
          <p:cNvPr id="27" name="Tytuł 1">
            <a:extLst>
              <a:ext uri="{FF2B5EF4-FFF2-40B4-BE49-F238E27FC236}">
                <a16:creationId xmlns:a16="http://schemas.microsoft.com/office/drawing/2014/main" id="{BD00E014-D84A-90F2-C856-4BC84DF8CB25}"/>
              </a:ext>
            </a:extLst>
          </p:cNvPr>
          <p:cNvSpPr txBox="1">
            <a:spLocks/>
          </p:cNvSpPr>
          <p:nvPr/>
        </p:nvSpPr>
        <p:spPr>
          <a:xfrm>
            <a:off x="927100" y="7254319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000" b="1" dirty="0">
                <a:solidFill>
                  <a:srgbClr val="FDFEE9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brak wsparcia po szkoleniu</a:t>
            </a:r>
          </a:p>
        </p:txBody>
      </p: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B08AF5EE-0845-116A-3907-63722E4EEF7C}"/>
              </a:ext>
            </a:extLst>
          </p:cNvPr>
          <p:cNvSpPr/>
          <p:nvPr/>
        </p:nvSpPr>
        <p:spPr>
          <a:xfrm>
            <a:off x="7937500" y="517525"/>
            <a:ext cx="3022600" cy="5822950"/>
          </a:xfrm>
          <a:prstGeom prst="roundRect">
            <a:avLst/>
          </a:prstGeom>
          <a:solidFill>
            <a:srgbClr val="3780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616BCA2D-6406-1053-00AF-26A718F448DD}"/>
              </a:ext>
            </a:extLst>
          </p:cNvPr>
          <p:cNvSpPr/>
          <p:nvPr/>
        </p:nvSpPr>
        <p:spPr>
          <a:xfrm>
            <a:off x="1282700" y="517525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011E434D-F761-FE25-0135-02DB7D76D720}"/>
              </a:ext>
            </a:extLst>
          </p:cNvPr>
          <p:cNvSpPr/>
          <p:nvPr/>
        </p:nvSpPr>
        <p:spPr>
          <a:xfrm>
            <a:off x="4584700" y="517525"/>
            <a:ext cx="3022600" cy="5822950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grpSp>
        <p:nvGrpSpPr>
          <p:cNvPr id="19" name="Grupa 18">
            <a:extLst>
              <a:ext uri="{FF2B5EF4-FFF2-40B4-BE49-F238E27FC236}">
                <a16:creationId xmlns:a16="http://schemas.microsoft.com/office/drawing/2014/main" id="{11D8C325-05A1-3204-34A9-8E8FB7AFC838}"/>
              </a:ext>
            </a:extLst>
          </p:cNvPr>
          <p:cNvGrpSpPr/>
          <p:nvPr/>
        </p:nvGrpSpPr>
        <p:grpSpPr>
          <a:xfrm>
            <a:off x="7937500" y="-6258791"/>
            <a:ext cx="3022600" cy="12599266"/>
            <a:chOff x="8509000" y="-3174278"/>
            <a:chExt cx="3022600" cy="12599266"/>
          </a:xfrm>
        </p:grpSpPr>
        <p:sp>
          <p:nvSpPr>
            <p:cNvPr id="21" name="Prostokąt: zaokrąglone rogi 20">
              <a:extLst>
                <a:ext uri="{FF2B5EF4-FFF2-40B4-BE49-F238E27FC236}">
                  <a16:creationId xmlns:a16="http://schemas.microsoft.com/office/drawing/2014/main" id="{39D10991-2D23-0F22-640A-C070BE20FB3A}"/>
                </a:ext>
              </a:extLst>
            </p:cNvPr>
            <p:cNvSpPr/>
            <p:nvPr/>
          </p:nvSpPr>
          <p:spPr>
            <a:xfrm>
              <a:off x="8509000" y="-3174278"/>
              <a:ext cx="3022600" cy="5822950"/>
            </a:xfrm>
            <a:prstGeom prst="roundRect">
              <a:avLst/>
            </a:prstGeom>
            <a:solidFill>
              <a:srgbClr val="EC6A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Prostokąt: zaokrąglone rogi 19">
              <a:extLst>
                <a:ext uri="{FF2B5EF4-FFF2-40B4-BE49-F238E27FC236}">
                  <a16:creationId xmlns:a16="http://schemas.microsoft.com/office/drawing/2014/main" id="{2091EF3D-5744-3D2D-DC97-2279215FF279}"/>
                </a:ext>
              </a:extLst>
            </p:cNvPr>
            <p:cNvSpPr/>
            <p:nvPr/>
          </p:nvSpPr>
          <p:spPr>
            <a:xfrm>
              <a:off x="8509000" y="3602038"/>
              <a:ext cx="3022600" cy="5822950"/>
            </a:xfrm>
            <a:prstGeom prst="roundRect">
              <a:avLst/>
            </a:prstGeom>
            <a:solidFill>
              <a:srgbClr val="37807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08492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2470A-2555-265A-CC60-5258AF008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90AD727-6329-D886-9A35-96E69EF11DA6}"/>
              </a:ext>
            </a:extLst>
          </p:cNvPr>
          <p:cNvSpPr txBox="1">
            <a:spLocks/>
          </p:cNvSpPr>
          <p:nvPr/>
        </p:nvSpPr>
        <p:spPr>
          <a:xfrm>
            <a:off x="0" y="3009900"/>
            <a:ext cx="12192000" cy="63853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54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Tradycyjne rozwiązania zawodzą</a:t>
            </a:r>
          </a:p>
        </p:txBody>
      </p:sp>
      <p:sp>
        <p:nvSpPr>
          <p:cNvPr id="9" name="Tytuł 1">
            <a:extLst>
              <a:ext uri="{FF2B5EF4-FFF2-40B4-BE49-F238E27FC236}">
                <a16:creationId xmlns:a16="http://schemas.microsoft.com/office/drawing/2014/main" id="{36CE3957-C49F-1072-3283-C82401FC6F2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1771649" y="433206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0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nudne kursy bez efektów</a:t>
            </a:r>
          </a:p>
        </p:txBody>
      </p:sp>
      <p:sp>
        <p:nvSpPr>
          <p:cNvPr id="10" name="Tytuł 1">
            <a:extLst>
              <a:ext uri="{FF2B5EF4-FFF2-40B4-BE49-F238E27FC236}">
                <a16:creationId xmlns:a16="http://schemas.microsoft.com/office/drawing/2014/main" id="{EE5DEF4E-77A2-326D-4038-3BB9C9BBB86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6677025" y="1079058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0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za dużo teorii, za mało praktyki</a:t>
            </a:r>
          </a:p>
        </p:txBody>
      </p:sp>
      <p:sp>
        <p:nvSpPr>
          <p:cNvPr id="11" name="Tytuł 1">
            <a:extLst>
              <a:ext uri="{FF2B5EF4-FFF2-40B4-BE49-F238E27FC236}">
                <a16:creationId xmlns:a16="http://schemas.microsoft.com/office/drawing/2014/main" id="{04A97A95-3A55-DCB5-21B0-439B9252D41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-226219" y="1419404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0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niewystarczające testowanie wiedzy</a:t>
            </a:r>
          </a:p>
        </p:txBody>
      </p:sp>
      <p:sp>
        <p:nvSpPr>
          <p:cNvPr id="13" name="Tytuł 1">
            <a:extLst>
              <a:ext uri="{FF2B5EF4-FFF2-40B4-BE49-F238E27FC236}">
                <a16:creationId xmlns:a16="http://schemas.microsoft.com/office/drawing/2014/main" id="{3B202DBE-BE42-F37D-0E96-E54AAB34B1B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5957887" y="2095499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4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brak zaangażowania pracowników</a:t>
            </a:r>
          </a:p>
        </p:txBody>
      </p:sp>
      <p:sp>
        <p:nvSpPr>
          <p:cNvPr id="14" name="Tytuł 1">
            <a:extLst>
              <a:ext uri="{FF2B5EF4-FFF2-40B4-BE49-F238E27FC236}">
                <a16:creationId xmlns:a16="http://schemas.microsoft.com/office/drawing/2014/main" id="{D9BD5B9C-EF90-D56C-65DA-D82ED4C052D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323850" y="4229243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4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nie wiesz, kto się uczy, a kto nie</a:t>
            </a:r>
          </a:p>
        </p:txBody>
      </p:sp>
      <p:sp>
        <p:nvSpPr>
          <p:cNvPr id="15" name="Tytuł 1">
            <a:extLst>
              <a:ext uri="{FF2B5EF4-FFF2-40B4-BE49-F238E27FC236}">
                <a16:creationId xmlns:a16="http://schemas.microsoft.com/office/drawing/2014/main" id="{27D496E1-2589-9013-405E-8A10E0C77A9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5860256" y="5783986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0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brak mierzenia skuteczności szkolenia</a:t>
            </a:r>
          </a:p>
        </p:txBody>
      </p:sp>
      <p:sp>
        <p:nvSpPr>
          <p:cNvPr id="17" name="Tytuł 1">
            <a:extLst>
              <a:ext uri="{FF2B5EF4-FFF2-40B4-BE49-F238E27FC236}">
                <a16:creationId xmlns:a16="http://schemas.microsoft.com/office/drawing/2014/main" id="{943ABA5B-DA01-699A-68CF-764C001B6B0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457200" y="5416912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0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brak wsparcia po szkoleniu</a:t>
            </a:r>
          </a:p>
        </p:txBody>
      </p:sp>
      <p:sp>
        <p:nvSpPr>
          <p:cNvPr id="18" name="Tytuł 1">
            <a:extLst>
              <a:ext uri="{FF2B5EF4-FFF2-40B4-BE49-F238E27FC236}">
                <a16:creationId xmlns:a16="http://schemas.microsoft.com/office/drawing/2014/main" id="{8D37BFEF-7F7B-9218-FB0F-38E6E4FE2CE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6410325" y="4412780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0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brak personalizacji </a:t>
            </a:r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871CD828-316F-0EF6-5625-95A3A5C0BCD0}"/>
              </a:ext>
            </a:extLst>
          </p:cNvPr>
          <p:cNvSpPr/>
          <p:nvPr/>
        </p:nvSpPr>
        <p:spPr>
          <a:xfrm>
            <a:off x="-3594100" y="517525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73BFA6E2-48E9-F1FB-E454-CA0F2AC0F959}"/>
              </a:ext>
            </a:extLst>
          </p:cNvPr>
          <p:cNvSpPr/>
          <p:nvPr/>
        </p:nvSpPr>
        <p:spPr>
          <a:xfrm>
            <a:off x="4584700" y="7356475"/>
            <a:ext cx="3022600" cy="5822950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0359DA5F-89D3-950C-8C51-6E2A79347BAF}"/>
              </a:ext>
            </a:extLst>
          </p:cNvPr>
          <p:cNvSpPr/>
          <p:nvPr/>
        </p:nvSpPr>
        <p:spPr>
          <a:xfrm>
            <a:off x="12763500" y="517525"/>
            <a:ext cx="3022600" cy="5822950"/>
          </a:xfrm>
          <a:prstGeom prst="roundRect">
            <a:avLst/>
          </a:prstGeom>
          <a:solidFill>
            <a:srgbClr val="3780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0390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77B1F-F689-D976-B610-65F7AD685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CD524141-B5B2-C69D-9D92-B4DB748007C1}"/>
              </a:ext>
            </a:extLst>
          </p:cNvPr>
          <p:cNvSpPr/>
          <p:nvPr/>
        </p:nvSpPr>
        <p:spPr>
          <a:xfrm>
            <a:off x="1282700" y="517525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4986ECE7-2345-34DC-9DE2-E946D7B7D79E}"/>
              </a:ext>
            </a:extLst>
          </p:cNvPr>
          <p:cNvSpPr/>
          <p:nvPr/>
        </p:nvSpPr>
        <p:spPr>
          <a:xfrm>
            <a:off x="4584700" y="517525"/>
            <a:ext cx="3022600" cy="5822950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3D01D0BB-B2D5-152E-1D86-A330C0EAAB7C}"/>
              </a:ext>
            </a:extLst>
          </p:cNvPr>
          <p:cNvSpPr/>
          <p:nvPr/>
        </p:nvSpPr>
        <p:spPr>
          <a:xfrm>
            <a:off x="7937500" y="517525"/>
            <a:ext cx="3022600" cy="5822950"/>
          </a:xfrm>
          <a:prstGeom prst="roundRect">
            <a:avLst/>
          </a:prstGeom>
          <a:solidFill>
            <a:srgbClr val="3780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1" name="Prostokąt: zaokrąglone rogi 20">
            <a:extLst>
              <a:ext uri="{FF2B5EF4-FFF2-40B4-BE49-F238E27FC236}">
                <a16:creationId xmlns:a16="http://schemas.microsoft.com/office/drawing/2014/main" id="{D1FF812A-DA4A-0773-3DF2-785159FEF818}"/>
              </a:ext>
            </a:extLst>
          </p:cNvPr>
          <p:cNvSpPr/>
          <p:nvPr/>
        </p:nvSpPr>
        <p:spPr>
          <a:xfrm>
            <a:off x="7937500" y="-6258791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28043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7459B-77D8-17C9-B01E-F7128580F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DC596CC-10A8-425E-FF96-B69F799E01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1515" y="2386657"/>
            <a:ext cx="5791200" cy="997672"/>
          </a:xfrm>
        </p:spPr>
        <p:txBody>
          <a:bodyPr>
            <a:noAutofit/>
          </a:bodyPr>
          <a:lstStyle/>
          <a:p>
            <a:r>
              <a:rPr lang="pl-PL" sz="8000" b="1" dirty="0" err="1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PhishAware</a:t>
            </a:r>
            <a:endParaRPr lang="pl-PL" sz="8000" b="1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7F6866F-EBD9-EA01-78C7-1FAB865AC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1515" y="3365217"/>
            <a:ext cx="6477000" cy="473642"/>
          </a:xfrm>
        </p:spPr>
        <p:txBody>
          <a:bodyPr>
            <a:noAutofit/>
          </a:bodyPr>
          <a:lstStyle/>
          <a:p>
            <a:pPr algn="l"/>
            <a:r>
              <a:rPr lang="pl-PL" sz="2900" b="1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“</a:t>
            </a:r>
            <a:r>
              <a:rPr lang="pl-PL" sz="2900" b="1" dirty="0" err="1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Duolingo</a:t>
            </a:r>
            <a:r>
              <a:rPr lang="pl-PL" sz="2900" b="1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pl-PL" sz="2900" b="1" dirty="0" err="1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cyberbezpieczeństwa</a:t>
            </a:r>
            <a:r>
              <a:rPr lang="pl-PL" sz="2900" b="1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”</a:t>
            </a:r>
            <a:endParaRPr lang="pl-PL" sz="2900" b="1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404CAE24-89B2-EF71-3A3E-D777790588B4}"/>
              </a:ext>
            </a:extLst>
          </p:cNvPr>
          <p:cNvSpPr/>
          <p:nvPr/>
        </p:nvSpPr>
        <p:spPr>
          <a:xfrm>
            <a:off x="1282700" y="5611019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ED490658-3BD9-66B8-7E23-D4FC7667DD58}"/>
              </a:ext>
            </a:extLst>
          </p:cNvPr>
          <p:cNvSpPr/>
          <p:nvPr/>
        </p:nvSpPr>
        <p:spPr>
          <a:xfrm>
            <a:off x="4584700" y="4410869"/>
            <a:ext cx="3022600" cy="5822950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10BB056C-E84C-0CD4-10E6-705310168FBB}"/>
              </a:ext>
            </a:extLst>
          </p:cNvPr>
          <p:cNvSpPr/>
          <p:nvPr/>
        </p:nvSpPr>
        <p:spPr>
          <a:xfrm>
            <a:off x="7937500" y="3582988"/>
            <a:ext cx="3022600" cy="5822950"/>
          </a:xfrm>
          <a:prstGeom prst="roundRect">
            <a:avLst/>
          </a:prstGeom>
          <a:solidFill>
            <a:srgbClr val="3780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47C88BE6-90A7-FCBA-9900-E403976AA0CF}"/>
              </a:ext>
            </a:extLst>
          </p:cNvPr>
          <p:cNvSpPr/>
          <p:nvPr/>
        </p:nvSpPr>
        <p:spPr>
          <a:xfrm>
            <a:off x="7937500" y="-3193328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pic>
        <p:nvPicPr>
          <p:cNvPr id="14" name="Grafika 13">
            <a:extLst>
              <a:ext uri="{FF2B5EF4-FFF2-40B4-BE49-F238E27FC236}">
                <a16:creationId xmlns:a16="http://schemas.microsoft.com/office/drawing/2014/main" id="{3E87FA5F-3DED-9AB6-287A-1962F3CAB1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0200" y="380127"/>
            <a:ext cx="1211315" cy="1211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2731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B26F9-98A2-A252-72FF-16C540963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tytuł 2">
            <a:extLst>
              <a:ext uri="{FF2B5EF4-FFF2-40B4-BE49-F238E27FC236}">
                <a16:creationId xmlns:a16="http://schemas.microsoft.com/office/drawing/2014/main" id="{B1BF196C-7225-B01F-47BA-B96111AF84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76474" y="2971025"/>
            <a:ext cx="8582026" cy="1340133"/>
          </a:xfrm>
        </p:spPr>
        <p:txBody>
          <a:bodyPr>
            <a:noAutofit/>
          </a:bodyPr>
          <a:lstStyle/>
          <a:p>
            <a:r>
              <a:rPr lang="pl-PL" sz="2800" b="1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Nowoczesny system szkoleniowy</a:t>
            </a:r>
            <a:r>
              <a:rPr lang="pl-PL" sz="2800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, </a:t>
            </a:r>
            <a:br>
              <a:rPr lang="pl-PL" sz="2800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</a:br>
            <a:r>
              <a:rPr lang="pl-PL" sz="2800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który nie tylko uczy przez </a:t>
            </a:r>
            <a:r>
              <a:rPr lang="pl-PL" sz="2800" b="1" dirty="0" err="1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gamefikację</a:t>
            </a:r>
            <a:r>
              <a:rPr lang="pl-PL" sz="2800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, </a:t>
            </a:r>
            <a:br>
              <a:rPr lang="pl-PL" sz="2800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</a:br>
            <a:r>
              <a:rPr lang="pl-PL" sz="2800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ale też </a:t>
            </a:r>
            <a:r>
              <a:rPr lang="pl-PL" sz="2800" b="1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testuje</a:t>
            </a:r>
            <a:r>
              <a:rPr lang="pl-PL" sz="2800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pl-PL" sz="2800" b="1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skuteczność</a:t>
            </a:r>
            <a:r>
              <a:rPr lang="pl-PL" sz="2800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br>
              <a:rPr lang="pl-PL" sz="2800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</a:br>
            <a:r>
              <a:rPr lang="pl-PL" sz="2800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w </a:t>
            </a:r>
            <a:r>
              <a:rPr lang="pl-PL" sz="2800" b="1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realnym</a:t>
            </a:r>
            <a:r>
              <a:rPr lang="pl-PL" sz="2800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pl-PL" sz="2800" b="1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środowisku</a:t>
            </a:r>
            <a:endParaRPr lang="pl-PL" sz="2800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EC073C8A-82A6-123E-F84C-5C35CA152387}"/>
              </a:ext>
            </a:extLst>
          </p:cNvPr>
          <p:cNvSpPr/>
          <p:nvPr/>
        </p:nvSpPr>
        <p:spPr>
          <a:xfrm>
            <a:off x="1282700" y="4561038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4219A6E3-36C1-62F8-8B14-13E6C7583ACF}"/>
              </a:ext>
            </a:extLst>
          </p:cNvPr>
          <p:cNvSpPr/>
          <p:nvPr/>
        </p:nvSpPr>
        <p:spPr>
          <a:xfrm>
            <a:off x="4584700" y="5198419"/>
            <a:ext cx="3022600" cy="5822950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491A5DF0-00A2-949E-EA7B-C67116CB8686}"/>
              </a:ext>
            </a:extLst>
          </p:cNvPr>
          <p:cNvSpPr/>
          <p:nvPr/>
        </p:nvSpPr>
        <p:spPr>
          <a:xfrm>
            <a:off x="7937500" y="6017569"/>
            <a:ext cx="3022600" cy="5822950"/>
          </a:xfrm>
          <a:prstGeom prst="roundRect">
            <a:avLst/>
          </a:prstGeom>
          <a:solidFill>
            <a:srgbClr val="3780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252F1AA6-E4CD-7C3F-7F23-42A53AE00FC5}"/>
              </a:ext>
            </a:extLst>
          </p:cNvPr>
          <p:cNvSpPr/>
          <p:nvPr/>
        </p:nvSpPr>
        <p:spPr>
          <a:xfrm>
            <a:off x="7937500" y="-4837166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3" name="Tytuł 1">
            <a:extLst>
              <a:ext uri="{FF2B5EF4-FFF2-40B4-BE49-F238E27FC236}">
                <a16:creationId xmlns:a16="http://schemas.microsoft.com/office/drawing/2014/main" id="{5791DFDF-DB59-0242-88BD-922F5E3B8D32}"/>
              </a:ext>
            </a:extLst>
          </p:cNvPr>
          <p:cNvSpPr txBox="1">
            <a:spLocks/>
          </p:cNvSpPr>
          <p:nvPr/>
        </p:nvSpPr>
        <p:spPr>
          <a:xfrm>
            <a:off x="57150" y="2332489"/>
            <a:ext cx="12192000" cy="63853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54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Czym jest </a:t>
            </a:r>
            <a:r>
              <a:rPr lang="pl-PL" sz="5400" b="1" dirty="0" err="1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PhishAware</a:t>
            </a:r>
            <a:r>
              <a:rPr lang="pl-PL" sz="54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?</a:t>
            </a:r>
          </a:p>
        </p:txBody>
      </p:sp>
      <p:sp>
        <p:nvSpPr>
          <p:cNvPr id="20" name="Podtytuł 2">
            <a:extLst>
              <a:ext uri="{FF2B5EF4-FFF2-40B4-BE49-F238E27FC236}">
                <a16:creationId xmlns:a16="http://schemas.microsoft.com/office/drawing/2014/main" id="{08FD0B4E-1240-CEB7-1A35-366307B5A4F1}"/>
              </a:ext>
            </a:extLst>
          </p:cNvPr>
          <p:cNvSpPr txBox="1">
            <a:spLocks/>
          </p:cNvSpPr>
          <p:nvPr/>
        </p:nvSpPr>
        <p:spPr>
          <a:xfrm>
            <a:off x="5157787" y="4677436"/>
            <a:ext cx="8582026" cy="13401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1600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… i dostosowuje się do potrzeb pracownika…</a:t>
            </a:r>
          </a:p>
        </p:txBody>
      </p:sp>
    </p:spTree>
    <p:extLst>
      <p:ext uri="{BB962C8B-B14F-4D97-AF65-F5344CB8AC3E}">
        <p14:creationId xmlns:p14="http://schemas.microsoft.com/office/powerpoint/2010/main" val="253121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EBFA6-47C0-0F69-8262-7E3CE03EF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75E44832-C86C-EEF4-E303-FD7F168C190C}"/>
              </a:ext>
            </a:extLst>
          </p:cNvPr>
          <p:cNvSpPr/>
          <p:nvPr/>
        </p:nvSpPr>
        <p:spPr>
          <a:xfrm>
            <a:off x="1282700" y="5691338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EBBB0573-CA69-DDE9-C41A-92C569FD23D9}"/>
              </a:ext>
            </a:extLst>
          </p:cNvPr>
          <p:cNvSpPr/>
          <p:nvPr/>
        </p:nvSpPr>
        <p:spPr>
          <a:xfrm>
            <a:off x="4584700" y="5205833"/>
            <a:ext cx="3022600" cy="5822950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A6589164-8316-500C-21F9-2FF88FDDE1E7}"/>
              </a:ext>
            </a:extLst>
          </p:cNvPr>
          <p:cNvSpPr/>
          <p:nvPr/>
        </p:nvSpPr>
        <p:spPr>
          <a:xfrm>
            <a:off x="7937500" y="4581831"/>
            <a:ext cx="3022600" cy="5822950"/>
          </a:xfrm>
          <a:prstGeom prst="roundRect">
            <a:avLst/>
          </a:prstGeom>
          <a:solidFill>
            <a:srgbClr val="3780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6F158865-0C73-C9E6-F0C5-E42A043C6866}"/>
              </a:ext>
            </a:extLst>
          </p:cNvPr>
          <p:cNvSpPr/>
          <p:nvPr/>
        </p:nvSpPr>
        <p:spPr>
          <a:xfrm>
            <a:off x="7937500" y="-4982519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3" name="Tytuł 1">
            <a:extLst>
              <a:ext uri="{FF2B5EF4-FFF2-40B4-BE49-F238E27FC236}">
                <a16:creationId xmlns:a16="http://schemas.microsoft.com/office/drawing/2014/main" id="{6E9BFC28-BFF1-58C4-99C4-32B050D4E4D2}"/>
              </a:ext>
            </a:extLst>
          </p:cNvPr>
          <p:cNvSpPr txBox="1">
            <a:spLocks/>
          </p:cNvSpPr>
          <p:nvPr/>
        </p:nvSpPr>
        <p:spPr>
          <a:xfrm>
            <a:off x="962025" y="1066811"/>
            <a:ext cx="5702300" cy="63853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l-PL" sz="36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Efekt biznesowy</a:t>
            </a: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06B34855-CEFC-612D-50BF-7FF084DEE0F9}"/>
              </a:ext>
            </a:extLst>
          </p:cNvPr>
          <p:cNvSpPr txBox="1"/>
          <p:nvPr/>
        </p:nvSpPr>
        <p:spPr>
          <a:xfrm>
            <a:off x="619125" y="840431"/>
            <a:ext cx="71945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400" b="1" dirty="0">
                <a:solidFill>
                  <a:schemeClr val="bg1">
                    <a:lumMod val="50000"/>
                  </a:schemeClr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przewidywany</a:t>
            </a:r>
            <a:endParaRPr lang="pl-PL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Tytuł 1">
            <a:extLst>
              <a:ext uri="{FF2B5EF4-FFF2-40B4-BE49-F238E27FC236}">
                <a16:creationId xmlns:a16="http://schemas.microsoft.com/office/drawing/2014/main" id="{87735E4A-3C65-5605-42AC-162A4FFA89F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1500219" y="1993934"/>
            <a:ext cx="453866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l-PL" sz="24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Spadek skutecznych ataków</a:t>
            </a:r>
          </a:p>
        </p:txBody>
      </p:sp>
      <p:sp>
        <p:nvSpPr>
          <p:cNvPr id="24" name="Tytuł 1">
            <a:extLst>
              <a:ext uri="{FF2B5EF4-FFF2-40B4-BE49-F238E27FC236}">
                <a16:creationId xmlns:a16="http://schemas.microsoft.com/office/drawing/2014/main" id="{235BC2BC-28C8-C1C2-8E56-9C44A7580AC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4430712" y="3178567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l-PL" sz="2000" b="1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25" name="Tytuł 1">
            <a:extLst>
              <a:ext uri="{FF2B5EF4-FFF2-40B4-BE49-F238E27FC236}">
                <a16:creationId xmlns:a16="http://schemas.microsoft.com/office/drawing/2014/main" id="{EA22A6FC-6368-70E0-17AA-CC73711DEBF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619125" y="4105220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l-PL" sz="2000" b="1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pic>
        <p:nvPicPr>
          <p:cNvPr id="1030" name="Picture 6" descr="iOS 14.2">
            <a:extLst>
              <a:ext uri="{FF2B5EF4-FFF2-40B4-BE49-F238E27FC236}">
                <a16:creationId xmlns:a16="http://schemas.microsoft.com/office/drawing/2014/main" id="{09C1CAAB-AD15-A91B-C1A3-01A782FB88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141" y="2000002"/>
            <a:ext cx="469899" cy="469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OS 10.2">
            <a:extLst>
              <a:ext uri="{FF2B5EF4-FFF2-40B4-BE49-F238E27FC236}">
                <a16:creationId xmlns:a16="http://schemas.microsoft.com/office/drawing/2014/main" id="{430D8642-8BBA-5928-CB03-02D9472F8D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25" y="2848504"/>
            <a:ext cx="469899" cy="469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OS 11.2">
            <a:extLst>
              <a:ext uri="{FF2B5EF4-FFF2-40B4-BE49-F238E27FC236}">
                <a16:creationId xmlns:a16="http://schemas.microsoft.com/office/drawing/2014/main" id="{08D19978-CC9E-D807-4BAD-57FF8E01A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141" y="3690293"/>
            <a:ext cx="464455" cy="464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OS 14.6">
            <a:extLst>
              <a:ext uri="{FF2B5EF4-FFF2-40B4-BE49-F238E27FC236}">
                <a16:creationId xmlns:a16="http://schemas.microsoft.com/office/drawing/2014/main" id="{FF1EF237-3EC9-1023-7FC8-27AFE338AF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141" y="4487118"/>
            <a:ext cx="464455" cy="464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ytuł 1">
            <a:extLst>
              <a:ext uri="{FF2B5EF4-FFF2-40B4-BE49-F238E27FC236}">
                <a16:creationId xmlns:a16="http://schemas.microsoft.com/office/drawing/2014/main" id="{75A83902-D787-0524-5322-3CDE9FEC5B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1500219" y="2835722"/>
            <a:ext cx="5548281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l-PL" sz="24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Wzrost świadomości i reaktywności</a:t>
            </a:r>
          </a:p>
        </p:txBody>
      </p:sp>
      <p:sp>
        <p:nvSpPr>
          <p:cNvPr id="27" name="Tytuł 1">
            <a:extLst>
              <a:ext uri="{FF2B5EF4-FFF2-40B4-BE49-F238E27FC236}">
                <a16:creationId xmlns:a16="http://schemas.microsoft.com/office/drawing/2014/main" id="{4C77B4FD-EA8D-9D97-350A-FD643CC70A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1532875" y="3647456"/>
            <a:ext cx="5905502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l-PL" sz="24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Szybsze i trwalsze przyswajanie wiedzy</a:t>
            </a:r>
          </a:p>
        </p:txBody>
      </p:sp>
      <p:sp>
        <p:nvSpPr>
          <p:cNvPr id="28" name="Tytuł 1">
            <a:extLst>
              <a:ext uri="{FF2B5EF4-FFF2-40B4-BE49-F238E27FC236}">
                <a16:creationId xmlns:a16="http://schemas.microsoft.com/office/drawing/2014/main" id="{C65BB1B0-3202-BCFB-255D-E17CE74985F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1532874" y="4491680"/>
            <a:ext cx="5539742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l-PL" sz="24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Raporty gotowe do audytu</a:t>
            </a:r>
          </a:p>
        </p:txBody>
      </p:sp>
    </p:spTree>
    <p:extLst>
      <p:ext uri="{BB962C8B-B14F-4D97-AF65-F5344CB8AC3E}">
        <p14:creationId xmlns:p14="http://schemas.microsoft.com/office/powerpoint/2010/main" val="39573637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410A2-5F14-B435-7C4C-F5AC54F65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4FB5135-950F-104E-40E1-D70110FDE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1515" y="2386657"/>
            <a:ext cx="5791200" cy="997672"/>
          </a:xfrm>
        </p:spPr>
        <p:txBody>
          <a:bodyPr>
            <a:noAutofit/>
          </a:bodyPr>
          <a:lstStyle/>
          <a:p>
            <a:r>
              <a:rPr lang="pl-PL" sz="8000" b="1" dirty="0" err="1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PhishAware</a:t>
            </a:r>
            <a:endParaRPr lang="pl-PL" sz="8000" b="1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F9B9230-1E64-36FD-A88A-A548DA8760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1900" y="3365217"/>
            <a:ext cx="6786615" cy="473642"/>
          </a:xfrm>
        </p:spPr>
        <p:txBody>
          <a:bodyPr>
            <a:noAutofit/>
          </a:bodyPr>
          <a:lstStyle/>
          <a:p>
            <a:r>
              <a:rPr lang="pl-PL" sz="2000" b="1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Przekształcamy największe zagrożenie ( czynnik ludzki ) </a:t>
            </a:r>
            <a:br>
              <a:rPr lang="pl-PL" sz="2000" b="1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</a:br>
            <a:r>
              <a:rPr lang="pl-PL" sz="2000" b="1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w najsilniejszą linię obrony Twojej firmy</a:t>
            </a:r>
            <a:endParaRPr lang="pl-PL" sz="2000" b="1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9ED77DC4-13E4-79D1-A4C2-77F664D67E2C}"/>
              </a:ext>
            </a:extLst>
          </p:cNvPr>
          <p:cNvSpPr/>
          <p:nvPr/>
        </p:nvSpPr>
        <p:spPr>
          <a:xfrm>
            <a:off x="1282700" y="5611019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F3EFF4BF-0E3D-C42C-8279-C89943162605}"/>
              </a:ext>
            </a:extLst>
          </p:cNvPr>
          <p:cNvSpPr/>
          <p:nvPr/>
        </p:nvSpPr>
        <p:spPr>
          <a:xfrm>
            <a:off x="4584700" y="4410869"/>
            <a:ext cx="3022600" cy="5822950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CB889830-27DE-3200-CA13-CC439B150D2B}"/>
              </a:ext>
            </a:extLst>
          </p:cNvPr>
          <p:cNvSpPr/>
          <p:nvPr/>
        </p:nvSpPr>
        <p:spPr>
          <a:xfrm>
            <a:off x="7937500" y="3582988"/>
            <a:ext cx="3022600" cy="5822950"/>
          </a:xfrm>
          <a:prstGeom prst="roundRect">
            <a:avLst/>
          </a:prstGeom>
          <a:solidFill>
            <a:srgbClr val="3780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CC14C6A2-B7DC-837C-BD4A-340749A3CAA8}"/>
              </a:ext>
            </a:extLst>
          </p:cNvPr>
          <p:cNvSpPr/>
          <p:nvPr/>
        </p:nvSpPr>
        <p:spPr>
          <a:xfrm>
            <a:off x="7937500" y="-3193328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pic>
        <p:nvPicPr>
          <p:cNvPr id="14" name="Grafika 13">
            <a:extLst>
              <a:ext uri="{FF2B5EF4-FFF2-40B4-BE49-F238E27FC236}">
                <a16:creationId xmlns:a16="http://schemas.microsoft.com/office/drawing/2014/main" id="{F037B969-A477-6F4C-635B-4393A4BB69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0200" y="380127"/>
            <a:ext cx="1211315" cy="1211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4942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934</Words>
  <Application>Microsoft Office PowerPoint</Application>
  <PresentationFormat>Panoramiczny</PresentationFormat>
  <Paragraphs>83</Paragraphs>
  <Slides>12</Slides>
  <Notes>10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12</vt:i4>
      </vt:variant>
    </vt:vector>
  </HeadingPairs>
  <TitlesOfParts>
    <vt:vector size="18" baseType="lpstr">
      <vt:lpstr>Calibri</vt:lpstr>
      <vt:lpstr>Aptos</vt:lpstr>
      <vt:lpstr>Red Hat Display</vt:lpstr>
      <vt:lpstr>Arial</vt:lpstr>
      <vt:lpstr>Aptos Display</vt:lpstr>
      <vt:lpstr>Motyw pakietu Office</vt:lpstr>
      <vt:lpstr>PhishAware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PhishAware</vt:lpstr>
      <vt:lpstr>Prezentacja programu PowerPoint</vt:lpstr>
      <vt:lpstr>Prezentacja programu PowerPoint</vt:lpstr>
      <vt:lpstr>PhishAware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Michał Jasiński</dc:creator>
  <cp:lastModifiedBy>Michał Jasiński</cp:lastModifiedBy>
  <cp:revision>12</cp:revision>
  <dcterms:created xsi:type="dcterms:W3CDTF">2025-04-04T19:27:28Z</dcterms:created>
  <dcterms:modified xsi:type="dcterms:W3CDTF">2025-05-18T17:27:52Z</dcterms:modified>
</cp:coreProperties>
</file>